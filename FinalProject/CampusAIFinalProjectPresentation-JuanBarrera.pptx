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7" r:id="rId2"/>
    <p:sldId id="256" r:id="rId3"/>
    <p:sldId id="257" r:id="rId4"/>
    <p:sldId id="258" r:id="rId5"/>
    <p:sldId id="259" r:id="rId6"/>
    <p:sldId id="260" r:id="rId7"/>
    <p:sldId id="261" r:id="rId8"/>
    <p:sldId id="262" r:id="rId9"/>
    <p:sldId id="263" r:id="rId10"/>
    <p:sldId id="264"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8"/>
    <p:restoredTop sz="94694"/>
  </p:normalViewPr>
  <p:slideViewPr>
    <p:cSldViewPr snapToGrid="0" snapToObjects="1">
      <p:cViewPr varScale="1">
        <p:scale>
          <a:sx n="83" d="100"/>
          <a:sy n="83" d="100"/>
        </p:scale>
        <p:origin x="224" y="101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9299E1-C0D3-9957-3EE4-A0D470E5209E}"/>
              </a:ext>
            </a:extLst>
          </p:cNvPr>
          <p:cNvSpPr>
            <a:spLocks noGrp="1"/>
          </p:cNvSpPr>
          <p:nvPr>
            <p:ph type="ctrTitle"/>
          </p:nvPr>
        </p:nvSpPr>
        <p:spPr>
          <a:xfrm>
            <a:off x="890338" y="438912"/>
            <a:ext cx="3734014" cy="3566160"/>
          </a:xfrm>
        </p:spPr>
        <p:txBody>
          <a:bodyPr anchor="b">
            <a:normAutofit/>
          </a:bodyPr>
          <a:lstStyle/>
          <a:p>
            <a:pPr algn="l"/>
            <a:r>
              <a:rPr lang="en-US" sz="5400" dirty="0"/>
              <a:t>Final Project</a:t>
            </a:r>
          </a:p>
        </p:txBody>
      </p:sp>
      <p:sp>
        <p:nvSpPr>
          <p:cNvPr id="3" name="Subtitle 2">
            <a:extLst>
              <a:ext uri="{FF2B5EF4-FFF2-40B4-BE49-F238E27FC236}">
                <a16:creationId xmlns:a16="http://schemas.microsoft.com/office/drawing/2014/main" id="{48EE4D5A-F592-5ECC-FF89-B46CDC5476A2}"/>
              </a:ext>
            </a:extLst>
          </p:cNvPr>
          <p:cNvSpPr>
            <a:spLocks noGrp="1"/>
          </p:cNvSpPr>
          <p:nvPr>
            <p:ph type="subTitle" idx="1"/>
          </p:nvPr>
        </p:nvSpPr>
        <p:spPr>
          <a:xfrm>
            <a:off x="890339" y="4636008"/>
            <a:ext cx="3734014" cy="1572768"/>
          </a:xfrm>
        </p:spPr>
        <p:txBody>
          <a:bodyPr>
            <a:normAutofit/>
          </a:bodyPr>
          <a:lstStyle/>
          <a:p>
            <a:pPr algn="l"/>
            <a:r>
              <a:rPr lang="en-US" sz="2400" dirty="0"/>
              <a:t>Juan Barrera</a:t>
            </a:r>
            <a:br>
              <a:rPr lang="en-US" sz="2400" dirty="0"/>
            </a:br>
            <a:r>
              <a:rPr lang="en-US" sz="2400" dirty="0"/>
              <a:t>Professor Mark Voortman</a:t>
            </a:r>
            <a:br>
              <a:rPr lang="en-US" sz="2400" dirty="0"/>
            </a:br>
            <a:r>
              <a:rPr lang="en-US" sz="2400" dirty="0"/>
              <a:t>Advanced Topics in AI</a:t>
            </a:r>
          </a:p>
        </p:txBody>
      </p:sp>
      <p:sp>
        <p:nvSpPr>
          <p:cNvPr id="12"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map of a university&#10;&#10;Description automatically generated">
            <a:extLst>
              <a:ext uri="{FF2B5EF4-FFF2-40B4-BE49-F238E27FC236}">
                <a16:creationId xmlns:a16="http://schemas.microsoft.com/office/drawing/2014/main" id="{CBC796A3-42C3-A343-2722-8F01C035C982}"/>
              </a:ext>
            </a:extLst>
          </p:cNvPr>
          <p:cNvPicPr>
            <a:picLocks noChangeAspect="1"/>
          </p:cNvPicPr>
          <p:nvPr/>
        </p:nvPicPr>
        <p:blipFill>
          <a:blip r:embed="rId2"/>
          <a:srcRect r="-1" b="3043"/>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332314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155680" cy="594360"/>
          </a:xfrm>
          <a:prstGeom prst="rect">
            <a:avLst/>
          </a:prstGeom>
          <a:noFill/>
        </p:spPr>
        <p:txBody>
          <a:bodyPr wrap="none">
            <a:spAutoFit/>
          </a:bodyPr>
          <a:lstStyle/>
          <a:p>
            <a:pPr>
              <a:defRPr sz="3000" b="1">
                <a:solidFill>
                  <a:srgbClr val="111827"/>
                </a:solidFill>
              </a:defRPr>
            </a:pPr>
            <a:r>
              <a:t>Domain: AI-Driven Campus Simulation</a:t>
            </a:r>
          </a:p>
        </p:txBody>
      </p:sp>
      <p:sp>
        <p:nvSpPr>
          <p:cNvPr id="3" name="TextBox 2"/>
          <p:cNvSpPr txBox="1"/>
          <p:nvPr/>
        </p:nvSpPr>
        <p:spPr>
          <a:xfrm>
            <a:off x="548640" y="932688"/>
            <a:ext cx="10881360" cy="329184"/>
          </a:xfrm>
          <a:prstGeom prst="rect">
            <a:avLst/>
          </a:prstGeom>
          <a:noFill/>
        </p:spPr>
        <p:txBody>
          <a:bodyPr wrap="none">
            <a:spAutoFit/>
          </a:bodyPr>
          <a:lstStyle/>
          <a:p>
            <a:pPr>
              <a:defRPr sz="1400">
                <a:solidFill>
                  <a:srgbClr val="4B5563"/>
                </a:solidFill>
              </a:defRPr>
            </a:pPr>
            <a:r>
              <a:t>A 50-agent university campus environment with explainable AI reasoning</a:t>
            </a:r>
          </a:p>
        </p:txBody>
      </p:sp>
      <p:sp>
        <p:nvSpPr>
          <p:cNvPr id="4" name="TextBox 3"/>
          <p:cNvSpPr txBox="1"/>
          <p:nvPr/>
        </p:nvSpPr>
        <p:spPr>
          <a:xfrm>
            <a:off x="10698480" y="6446520"/>
            <a:ext cx="1005840" cy="228600"/>
          </a:xfrm>
          <a:prstGeom prst="rect">
            <a:avLst/>
          </a:prstGeom>
          <a:noFill/>
        </p:spPr>
        <p:txBody>
          <a:bodyPr wrap="none">
            <a:spAutoFit/>
          </a:bodyPr>
          <a:lstStyle/>
          <a:p>
            <a:pPr algn="r">
              <a:defRPr sz="1000">
                <a:solidFill>
                  <a:srgbClr val="4B5563"/>
                </a:solidFill>
              </a:defRPr>
            </a:pPr>
            <a:r>
              <a:t>1/10</a:t>
            </a:r>
          </a:p>
        </p:txBody>
      </p:sp>
      <p:sp>
        <p:nvSpPr>
          <p:cNvPr id="5" name="Rounded Rectangle 4"/>
          <p:cNvSpPr/>
          <p:nvPr/>
        </p:nvSpPr>
        <p:spPr>
          <a:xfrm>
            <a:off x="640080" y="1559051"/>
            <a:ext cx="3429000" cy="1828800"/>
          </a:xfrm>
          <a:prstGeom prst="roundRect">
            <a:avLst/>
          </a:prstGeom>
          <a:solidFill>
            <a:srgbClr val="FFFFFF"/>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508760"/>
            <a:ext cx="342900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753009"/>
            <a:ext cx="3429000" cy="1284967"/>
          </a:xfrm>
          <a:prstGeom prst="rect">
            <a:avLst/>
          </a:prstGeom>
          <a:noFill/>
        </p:spPr>
        <p:txBody>
          <a:bodyPr wrap="square">
            <a:spAutoFit/>
          </a:bodyPr>
          <a:lstStyle/>
          <a:p>
            <a:pPr>
              <a:defRPr sz="1500" b="1">
                <a:solidFill>
                  <a:srgbClr val="111827"/>
                </a:solidFill>
              </a:defRPr>
            </a:pPr>
            <a:r>
              <a:rPr dirty="0"/>
              <a:t>Agents</a:t>
            </a:r>
          </a:p>
          <a:p>
            <a:pPr>
              <a:spcBef>
                <a:spcPts val="300"/>
              </a:spcBef>
              <a:defRPr sz="1150">
                <a:solidFill>
                  <a:srgbClr val="4B5563"/>
                </a:solidFill>
              </a:defRPr>
            </a:pPr>
            <a:r>
              <a:rPr lang="en-US" dirty="0"/>
              <a:t>The simulation creates 50 student agents with different profiles. Each agent has an ID, name, student type, housing location, personality, current location, expected location, and next destination.</a:t>
            </a:r>
          </a:p>
          <a:p>
            <a:pPr>
              <a:spcBef>
                <a:spcPts val="300"/>
              </a:spcBef>
              <a:defRPr sz="1150">
                <a:solidFill>
                  <a:srgbClr val="4B5563"/>
                </a:solidFill>
              </a:defRPr>
            </a:pPr>
            <a:endParaRPr dirty="0"/>
          </a:p>
        </p:txBody>
      </p:sp>
      <p:sp>
        <p:nvSpPr>
          <p:cNvPr id="8" name="Rounded Rectangle 7"/>
          <p:cNvSpPr/>
          <p:nvPr/>
        </p:nvSpPr>
        <p:spPr>
          <a:xfrm>
            <a:off x="4389120" y="1508760"/>
            <a:ext cx="3429000" cy="1828800"/>
          </a:xfrm>
          <a:prstGeom prst="roundRect">
            <a:avLst/>
          </a:prstGeom>
          <a:solidFill>
            <a:srgbClr val="FFFFFF"/>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89120" y="1508760"/>
            <a:ext cx="3429000" cy="73152"/>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90288" y="1673351"/>
            <a:ext cx="3026664" cy="1600200"/>
          </a:xfrm>
          <a:prstGeom prst="rect">
            <a:avLst/>
          </a:prstGeom>
          <a:noFill/>
        </p:spPr>
        <p:txBody>
          <a:bodyPr wrap="none">
            <a:spAutoFit/>
          </a:bodyPr>
          <a:lstStyle/>
          <a:p>
            <a:pPr>
              <a:defRPr sz="1500" b="1">
                <a:solidFill>
                  <a:srgbClr val="111827"/>
                </a:solidFill>
              </a:defRPr>
            </a:pPr>
            <a:r>
              <a:t>Environment</a:t>
            </a:r>
          </a:p>
          <a:p>
            <a:pPr>
              <a:spcBef>
                <a:spcPts val="300"/>
              </a:spcBef>
              <a:defRPr sz="1150">
                <a:solidFill>
                  <a:srgbClr val="4B5563"/>
                </a:solidFill>
              </a:defRPr>
            </a:pPr>
            <a:r>
              <a:t>Campus map with paths and buildings</a:t>
            </a:r>
          </a:p>
          <a:p>
            <a:pPr>
              <a:spcBef>
                <a:spcPts val="300"/>
              </a:spcBef>
              <a:defRPr sz="1150">
                <a:solidFill>
                  <a:srgbClr val="4B5563"/>
                </a:solidFill>
              </a:defRPr>
            </a:pPr>
            <a:r>
              <a:t>Time slots from sleep to free time</a:t>
            </a:r>
          </a:p>
          <a:p>
            <a:pPr>
              <a:spcBef>
                <a:spcPts val="300"/>
              </a:spcBef>
              <a:defRPr sz="1150">
                <a:solidFill>
                  <a:srgbClr val="4B5563"/>
                </a:solidFill>
              </a:defRPr>
            </a:pPr>
            <a:r>
              <a:t>Track practice and class obligations</a:t>
            </a:r>
          </a:p>
        </p:txBody>
      </p:sp>
      <p:sp>
        <p:nvSpPr>
          <p:cNvPr id="11" name="Rounded Rectangle 10"/>
          <p:cNvSpPr/>
          <p:nvPr/>
        </p:nvSpPr>
        <p:spPr>
          <a:xfrm>
            <a:off x="8138160" y="1508760"/>
            <a:ext cx="3429000" cy="1828800"/>
          </a:xfrm>
          <a:prstGeom prst="roundRect">
            <a:avLst/>
          </a:prstGeom>
          <a:solidFill>
            <a:srgbClr val="FFFFFF"/>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138160" y="1508760"/>
            <a:ext cx="3429000" cy="7315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39328" y="1673351"/>
            <a:ext cx="3026664" cy="1600200"/>
          </a:xfrm>
          <a:prstGeom prst="rect">
            <a:avLst/>
          </a:prstGeom>
          <a:noFill/>
        </p:spPr>
        <p:txBody>
          <a:bodyPr wrap="none">
            <a:spAutoFit/>
          </a:bodyPr>
          <a:lstStyle/>
          <a:p>
            <a:pPr>
              <a:defRPr sz="1500" b="1">
                <a:solidFill>
                  <a:srgbClr val="111827"/>
                </a:solidFill>
              </a:defRPr>
            </a:pPr>
            <a:r>
              <a:t>Interaction</a:t>
            </a:r>
          </a:p>
          <a:p>
            <a:pPr>
              <a:spcBef>
                <a:spcPts val="300"/>
              </a:spcBef>
              <a:defRPr sz="1150">
                <a:solidFill>
                  <a:srgbClr val="4B5563"/>
                </a:solidFill>
              </a:defRPr>
            </a:pPr>
            <a:r>
              <a:t>Ask agents natural-language questions</a:t>
            </a:r>
          </a:p>
          <a:p>
            <a:pPr>
              <a:spcBef>
                <a:spcPts val="300"/>
              </a:spcBef>
              <a:defRPr sz="1150">
                <a:solidFill>
                  <a:srgbClr val="4B5563"/>
                </a:solidFill>
              </a:defRPr>
            </a:pPr>
            <a:r>
              <a:t>Issue polite commands</a:t>
            </a:r>
          </a:p>
          <a:p>
            <a:pPr>
              <a:spcBef>
                <a:spcPts val="300"/>
              </a:spcBef>
              <a:defRPr sz="1150">
                <a:solidFill>
                  <a:srgbClr val="4B5563"/>
                </a:solidFill>
              </a:defRPr>
            </a:pPr>
            <a:r>
              <a:t>Inspect AI evidence and decisions</a:t>
            </a:r>
          </a:p>
        </p:txBody>
      </p:sp>
      <p:sp>
        <p:nvSpPr>
          <p:cNvPr id="14" name="TextBox 13"/>
          <p:cNvSpPr txBox="1"/>
          <p:nvPr/>
        </p:nvSpPr>
        <p:spPr>
          <a:xfrm>
            <a:off x="914400" y="3840480"/>
            <a:ext cx="10332720" cy="1280160"/>
          </a:xfrm>
          <a:prstGeom prst="rect">
            <a:avLst/>
          </a:prstGeom>
          <a:noFill/>
        </p:spPr>
        <p:txBody>
          <a:bodyPr wrap="square">
            <a:spAutoFit/>
          </a:bodyPr>
          <a:lstStyle/>
          <a:p>
            <a:pPr>
              <a:spcAft>
                <a:spcPts val="700"/>
              </a:spcAft>
              <a:defRPr sz="1800">
                <a:solidFill>
                  <a:srgbClr val="111827"/>
                </a:solidFill>
              </a:defRPr>
            </a:pPr>
            <a:r>
              <a:rPr dirty="0"/>
              <a:t>Goal: simulate, explain, and control autonomous student agents in a dynamic campus environment.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155680" cy="594360"/>
          </a:xfrm>
          <a:prstGeom prst="rect">
            <a:avLst/>
          </a:prstGeom>
          <a:noFill/>
        </p:spPr>
        <p:txBody>
          <a:bodyPr wrap="none">
            <a:spAutoFit/>
          </a:bodyPr>
          <a:lstStyle/>
          <a:p>
            <a:pPr>
              <a:defRPr sz="3000" b="1">
                <a:solidFill>
                  <a:srgbClr val="111827"/>
                </a:solidFill>
              </a:defRPr>
            </a:pPr>
            <a:r>
              <a:t>Specific Problems Being Solved</a:t>
            </a:r>
          </a:p>
        </p:txBody>
      </p:sp>
      <p:sp>
        <p:nvSpPr>
          <p:cNvPr id="3" name="TextBox 2"/>
          <p:cNvSpPr txBox="1"/>
          <p:nvPr/>
        </p:nvSpPr>
        <p:spPr>
          <a:xfrm>
            <a:off x="548640" y="932688"/>
            <a:ext cx="10881360" cy="329184"/>
          </a:xfrm>
          <a:prstGeom prst="rect">
            <a:avLst/>
          </a:prstGeom>
          <a:noFill/>
        </p:spPr>
        <p:txBody>
          <a:bodyPr wrap="none">
            <a:spAutoFit/>
          </a:bodyPr>
          <a:lstStyle/>
          <a:p>
            <a:pPr>
              <a:defRPr sz="1400">
                <a:solidFill>
                  <a:srgbClr val="4B5563"/>
                </a:solidFill>
              </a:defRPr>
            </a:pPr>
            <a:r>
              <a:t>From location prediction to autonomous conversation and consequences</a:t>
            </a:r>
          </a:p>
        </p:txBody>
      </p:sp>
      <p:sp>
        <p:nvSpPr>
          <p:cNvPr id="4" name="TextBox 3"/>
          <p:cNvSpPr txBox="1"/>
          <p:nvPr/>
        </p:nvSpPr>
        <p:spPr>
          <a:xfrm>
            <a:off x="10698480" y="6446520"/>
            <a:ext cx="1005840" cy="228600"/>
          </a:xfrm>
          <a:prstGeom prst="rect">
            <a:avLst/>
          </a:prstGeom>
          <a:noFill/>
        </p:spPr>
        <p:txBody>
          <a:bodyPr wrap="none">
            <a:spAutoFit/>
          </a:bodyPr>
          <a:lstStyle/>
          <a:p>
            <a:pPr algn="r">
              <a:defRPr sz="1000">
                <a:solidFill>
                  <a:srgbClr val="4B5563"/>
                </a:solidFill>
              </a:defRPr>
            </a:pPr>
            <a:r>
              <a:t>2/10</a:t>
            </a:r>
          </a:p>
        </p:txBody>
      </p:sp>
      <p:sp>
        <p:nvSpPr>
          <p:cNvPr id="5" name="TextBox 4"/>
          <p:cNvSpPr txBox="1"/>
          <p:nvPr/>
        </p:nvSpPr>
        <p:spPr>
          <a:xfrm>
            <a:off x="777240" y="1417320"/>
            <a:ext cx="5486400" cy="4663440"/>
          </a:xfrm>
          <a:prstGeom prst="rect">
            <a:avLst/>
          </a:prstGeom>
          <a:noFill/>
        </p:spPr>
        <p:txBody>
          <a:bodyPr wrap="square">
            <a:spAutoFit/>
          </a:bodyPr>
          <a:lstStyle/>
          <a:p>
            <a:pPr>
              <a:spcAft>
                <a:spcPts val="700"/>
              </a:spcAft>
              <a:defRPr sz="1600">
                <a:solidFill>
                  <a:srgbClr val="111827"/>
                </a:solidFill>
              </a:defRPr>
            </a:pPr>
            <a:r>
              <a:t>Where should each agent be during each time slot?</a:t>
            </a:r>
          </a:p>
          <a:p>
            <a:pPr>
              <a:spcAft>
                <a:spcPts val="700"/>
              </a:spcAft>
              <a:defRPr sz="1600">
                <a:solidFill>
                  <a:srgbClr val="111827"/>
                </a:solidFill>
              </a:defRPr>
            </a:pPr>
            <a:r>
              <a:t>Where is the agent actually located, and is it rebelling?</a:t>
            </a:r>
          </a:p>
          <a:p>
            <a:pPr>
              <a:spcAft>
                <a:spcPts val="700"/>
              </a:spcAft>
              <a:defRPr sz="1600">
                <a:solidFill>
                  <a:srgbClr val="111827"/>
                </a:solidFill>
              </a:defRPr>
            </a:pPr>
            <a:r>
              <a:t>Why did the agent choose this location instead of the expected one?</a:t>
            </a:r>
          </a:p>
          <a:p>
            <a:pPr>
              <a:spcAft>
                <a:spcPts val="700"/>
              </a:spcAft>
              <a:defRPr sz="1600">
                <a:solidFill>
                  <a:srgbClr val="111827"/>
                </a:solidFill>
              </a:defRPr>
            </a:pPr>
            <a:r>
              <a:t>Who is nearby in the same location?</a:t>
            </a:r>
          </a:p>
          <a:p>
            <a:pPr>
              <a:spcAft>
                <a:spcPts val="700"/>
              </a:spcAft>
              <a:defRPr sz="1600">
                <a:solidFill>
                  <a:srgbClr val="111827"/>
                </a:solidFill>
              </a:defRPr>
            </a:pPr>
            <a:r>
              <a:t>Should the agent obey a command or miss an obligation?</a:t>
            </a:r>
          </a:p>
          <a:p>
            <a:pPr>
              <a:spcAft>
                <a:spcPts val="700"/>
              </a:spcAft>
              <a:defRPr sz="1600">
                <a:solidFill>
                  <a:srgbClr val="111827"/>
                </a:solidFill>
              </a:defRPr>
            </a:pPr>
            <a:r>
              <a:t>How can the system expose evidence from NLP, EM, utility, and Q-learning?</a:t>
            </a:r>
          </a:p>
        </p:txBody>
      </p:sp>
      <p:sp>
        <p:nvSpPr>
          <p:cNvPr id="6" name="Rounded Rectangle 5"/>
          <p:cNvSpPr/>
          <p:nvPr/>
        </p:nvSpPr>
        <p:spPr>
          <a:xfrm>
            <a:off x="6583680" y="1508760"/>
            <a:ext cx="4754880" cy="3383280"/>
          </a:xfrm>
          <a:prstGeom prst="roundRect">
            <a:avLst/>
          </a:prstGeom>
          <a:solidFill>
            <a:srgbClr val="FFFFFF"/>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0" y="1508760"/>
            <a:ext cx="4754880"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84848" y="1673351"/>
            <a:ext cx="4352544" cy="3154680"/>
          </a:xfrm>
          <a:prstGeom prst="rect">
            <a:avLst/>
          </a:prstGeom>
          <a:noFill/>
        </p:spPr>
        <p:txBody>
          <a:bodyPr wrap="none">
            <a:spAutoFit/>
          </a:bodyPr>
          <a:lstStyle/>
          <a:p>
            <a:pPr>
              <a:defRPr sz="1500" b="1">
                <a:solidFill>
                  <a:srgbClr val="111827"/>
                </a:solidFill>
              </a:defRPr>
            </a:pPr>
            <a:r>
              <a:t>Key Output</a:t>
            </a:r>
          </a:p>
          <a:p>
            <a:pPr>
              <a:spcBef>
                <a:spcPts val="300"/>
              </a:spcBef>
              <a:defRPr sz="1150">
                <a:solidFill>
                  <a:srgbClr val="4B5563"/>
                </a:solidFill>
              </a:defRPr>
            </a:pPr>
            <a:r>
              <a:t>Natural-language answer</a:t>
            </a:r>
          </a:p>
          <a:p>
            <a:pPr>
              <a:spcBef>
                <a:spcPts val="300"/>
              </a:spcBef>
              <a:defRPr sz="1150">
                <a:solidFill>
                  <a:srgbClr val="4B5563"/>
                </a:solidFill>
              </a:defRPr>
            </a:pPr>
            <a:r>
              <a:t>Current and expected location</a:t>
            </a:r>
          </a:p>
          <a:p>
            <a:pPr>
              <a:spcBef>
                <a:spcPts val="300"/>
              </a:spcBef>
              <a:defRPr sz="1150">
                <a:solidFill>
                  <a:srgbClr val="4B5563"/>
                </a:solidFill>
              </a:defRPr>
            </a:pPr>
            <a:r>
              <a:t>Rebel status</a:t>
            </a:r>
          </a:p>
          <a:p>
            <a:pPr>
              <a:spcBef>
                <a:spcPts val="300"/>
              </a:spcBef>
              <a:defRPr sz="1150">
                <a:solidFill>
                  <a:srgbClr val="4B5563"/>
                </a:solidFill>
              </a:defRPr>
            </a:pPr>
            <a:r>
              <a:t>Attention weights</a:t>
            </a:r>
          </a:p>
          <a:p>
            <a:pPr>
              <a:spcBef>
                <a:spcPts val="300"/>
              </a:spcBef>
              <a:defRPr sz="1150">
                <a:solidFill>
                  <a:srgbClr val="4B5563"/>
                </a:solidFill>
              </a:defRPr>
            </a:pPr>
            <a:r>
              <a:t>EM hidden mode</a:t>
            </a:r>
          </a:p>
          <a:p>
            <a:pPr>
              <a:spcBef>
                <a:spcPts val="300"/>
              </a:spcBef>
              <a:defRPr sz="1150">
                <a:solidFill>
                  <a:srgbClr val="4B5563"/>
                </a:solidFill>
              </a:defRPr>
            </a:pPr>
            <a:r>
              <a:t>Q-learning recommendation</a:t>
            </a:r>
          </a:p>
          <a:p>
            <a:pPr>
              <a:spcBef>
                <a:spcPts val="300"/>
              </a:spcBef>
              <a:defRPr sz="1150">
                <a:solidFill>
                  <a:srgbClr val="4B5563"/>
                </a:solidFill>
              </a:defRPr>
            </a:pPr>
            <a:r>
              <a:t>Decision consequences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96349" y="-62259"/>
            <a:ext cx="6220164" cy="553998"/>
          </a:xfrm>
          <a:prstGeom prst="rect">
            <a:avLst/>
          </a:prstGeom>
          <a:noFill/>
        </p:spPr>
        <p:txBody>
          <a:bodyPr wrap="none">
            <a:spAutoFit/>
          </a:bodyPr>
          <a:lstStyle/>
          <a:p>
            <a:pPr>
              <a:defRPr sz="3000" b="1">
                <a:solidFill>
                  <a:srgbClr val="111827"/>
                </a:solidFill>
              </a:defRPr>
            </a:pPr>
            <a:r>
              <a:rPr dirty="0"/>
              <a:t>Temporal and Probabilistic Simulation</a:t>
            </a:r>
          </a:p>
        </p:txBody>
      </p:sp>
      <p:sp>
        <p:nvSpPr>
          <p:cNvPr id="3" name="TextBox 2"/>
          <p:cNvSpPr txBox="1"/>
          <p:nvPr/>
        </p:nvSpPr>
        <p:spPr>
          <a:xfrm>
            <a:off x="548639" y="337851"/>
            <a:ext cx="3579441" cy="307777"/>
          </a:xfrm>
          <a:prstGeom prst="rect">
            <a:avLst/>
          </a:prstGeom>
          <a:noFill/>
        </p:spPr>
        <p:txBody>
          <a:bodyPr wrap="none">
            <a:spAutoFit/>
          </a:bodyPr>
          <a:lstStyle/>
          <a:p>
            <a:pPr>
              <a:defRPr sz="1400">
                <a:solidFill>
                  <a:srgbClr val="4B5563"/>
                </a:solidFill>
              </a:defRPr>
            </a:pPr>
            <a:r>
              <a:rPr dirty="0"/>
              <a:t>Chapter 15 - Probabilistic Reasoning over Time</a:t>
            </a:r>
          </a:p>
        </p:txBody>
      </p:sp>
      <p:sp>
        <p:nvSpPr>
          <p:cNvPr id="4" name="TextBox 3"/>
          <p:cNvSpPr txBox="1"/>
          <p:nvPr/>
        </p:nvSpPr>
        <p:spPr>
          <a:xfrm>
            <a:off x="10698480" y="6446520"/>
            <a:ext cx="1005840" cy="228600"/>
          </a:xfrm>
          <a:prstGeom prst="rect">
            <a:avLst/>
          </a:prstGeom>
          <a:noFill/>
        </p:spPr>
        <p:txBody>
          <a:bodyPr wrap="none">
            <a:spAutoFit/>
          </a:bodyPr>
          <a:lstStyle/>
          <a:p>
            <a:pPr algn="r">
              <a:defRPr sz="1000">
                <a:solidFill>
                  <a:srgbClr val="4B5563"/>
                </a:solidFill>
              </a:defRPr>
            </a:pPr>
            <a:r>
              <a:t>3/10</a:t>
            </a:r>
          </a:p>
        </p:txBody>
      </p:sp>
      <p:sp>
        <p:nvSpPr>
          <p:cNvPr id="5" name="Rounded Rectangle 4"/>
          <p:cNvSpPr/>
          <p:nvPr/>
        </p:nvSpPr>
        <p:spPr>
          <a:xfrm>
            <a:off x="530748" y="767259"/>
            <a:ext cx="3566160" cy="2512986"/>
          </a:xfrm>
          <a:prstGeom prst="roundRect">
            <a:avLst/>
          </a:prstGeom>
          <a:solidFill>
            <a:srgbClr val="FFFFFF"/>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96349" y="608731"/>
            <a:ext cx="356616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p:cNvSpPr txBox="1"/>
          <p:nvPr/>
        </p:nvSpPr>
        <p:spPr>
          <a:xfrm>
            <a:off x="654733" y="749631"/>
            <a:ext cx="3186306" cy="2639184"/>
          </a:xfrm>
          <a:prstGeom prst="rect">
            <a:avLst/>
          </a:prstGeom>
          <a:noFill/>
        </p:spPr>
        <p:txBody>
          <a:bodyPr wrap="square">
            <a:spAutoFit/>
          </a:bodyPr>
          <a:lstStyle/>
          <a:p>
            <a:pPr>
              <a:defRPr sz="1500" b="1">
                <a:solidFill>
                  <a:srgbClr val="111827"/>
                </a:solidFill>
              </a:defRPr>
            </a:pPr>
            <a:r>
              <a:rPr dirty="0"/>
              <a:t>Implemented</a:t>
            </a:r>
          </a:p>
          <a:p>
            <a:pPr>
              <a:spcBef>
                <a:spcPts val="300"/>
              </a:spcBef>
              <a:defRPr sz="1150">
                <a:solidFill>
                  <a:srgbClr val="4B5563"/>
                </a:solidFill>
              </a:defRPr>
            </a:pPr>
            <a:endParaRPr lang="en-US" dirty="0"/>
          </a:p>
          <a:p>
            <a:pPr>
              <a:spcBef>
                <a:spcPts val="300"/>
              </a:spcBef>
              <a:defRPr sz="1150">
                <a:solidFill>
                  <a:srgbClr val="4B5563"/>
                </a:solidFill>
              </a:defRPr>
            </a:pPr>
            <a:r>
              <a:rPr lang="en-US" dirty="0"/>
              <a:t>The project models the campus day as a sequence of time slots. Each time slot updates the state of every agent, including where the agent is expected to be, where the agent actually is, and where the agent should go next.</a:t>
            </a:r>
          </a:p>
          <a:p>
            <a:pPr>
              <a:spcBef>
                <a:spcPts val="300"/>
              </a:spcBef>
              <a:defRPr sz="1150">
                <a:solidFill>
                  <a:srgbClr val="4B5563"/>
                </a:solidFill>
              </a:defRPr>
            </a:pPr>
            <a:endParaRPr lang="en-US" dirty="0"/>
          </a:p>
          <a:p>
            <a:pPr>
              <a:spcBef>
                <a:spcPts val="300"/>
              </a:spcBef>
              <a:defRPr sz="1150">
                <a:solidFill>
                  <a:srgbClr val="4B5563"/>
                </a:solidFill>
              </a:defRPr>
            </a:pPr>
            <a:r>
              <a:rPr lang="en-US" dirty="0"/>
              <a:t>The code separates </a:t>
            </a:r>
            <a:r>
              <a:rPr lang="en-US" dirty="0" err="1"/>
              <a:t>expected_location_now</a:t>
            </a:r>
            <a:r>
              <a:rPr lang="en-US" dirty="0"/>
              <a:t> from </a:t>
            </a:r>
            <a:r>
              <a:rPr lang="en-US" dirty="0" err="1"/>
              <a:t>current_location</a:t>
            </a:r>
            <a:r>
              <a:rPr lang="en-US" dirty="0"/>
              <a:t>. This is important because an agent can be scheduled for one place but actually choose another.</a:t>
            </a:r>
          </a:p>
          <a:p>
            <a:pPr>
              <a:spcBef>
                <a:spcPts val="300"/>
              </a:spcBef>
              <a:defRPr sz="1150">
                <a:solidFill>
                  <a:srgbClr val="4B5563"/>
                </a:solidFill>
              </a:defRPr>
            </a:pPr>
            <a:endParaRPr lang="en-US" dirty="0"/>
          </a:p>
        </p:txBody>
      </p:sp>
      <p:sp>
        <p:nvSpPr>
          <p:cNvPr id="8" name="Rounded Rectangle 7"/>
          <p:cNvSpPr/>
          <p:nvPr/>
        </p:nvSpPr>
        <p:spPr>
          <a:xfrm>
            <a:off x="4429595" y="649463"/>
            <a:ext cx="3566160" cy="2518190"/>
          </a:xfrm>
          <a:prstGeom prst="roundRect">
            <a:avLst/>
          </a:prstGeom>
          <a:solidFill>
            <a:srgbClr val="FFFFFF"/>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497762" y="608731"/>
            <a:ext cx="3566160" cy="73152"/>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55011" y="733337"/>
            <a:ext cx="3158203" cy="2262158"/>
          </a:xfrm>
          <a:prstGeom prst="rect">
            <a:avLst/>
          </a:prstGeom>
          <a:noFill/>
        </p:spPr>
        <p:txBody>
          <a:bodyPr wrap="square">
            <a:spAutoFit/>
          </a:bodyPr>
          <a:lstStyle/>
          <a:p>
            <a:pPr>
              <a:defRPr sz="1500" b="1">
                <a:solidFill>
                  <a:srgbClr val="111827"/>
                </a:solidFill>
              </a:defRPr>
            </a:pPr>
            <a:r>
              <a:rPr dirty="0"/>
              <a:t>Inputs</a:t>
            </a:r>
            <a:endParaRPr lang="en-US" dirty="0"/>
          </a:p>
          <a:p>
            <a:pPr>
              <a:defRPr sz="1500" b="1">
                <a:solidFill>
                  <a:srgbClr val="111827"/>
                </a:solidFill>
              </a:defRPr>
            </a:pPr>
            <a:endParaRPr lang="en-US" dirty="0"/>
          </a:p>
          <a:p>
            <a:pPr>
              <a:spcBef>
                <a:spcPts val="300"/>
              </a:spcBef>
              <a:defRPr sz="1150">
                <a:solidFill>
                  <a:srgbClr val="4B5563"/>
                </a:solidFill>
              </a:defRPr>
            </a:pPr>
            <a:r>
              <a:rPr lang="en-US" dirty="0"/>
              <a:t>The temporal simulation uses the current simulation time as the main input. The time determines which slot is active, such as class time, practice time, evening, sleep, or free time.</a:t>
            </a:r>
          </a:p>
          <a:p>
            <a:pPr>
              <a:spcBef>
                <a:spcPts val="300"/>
              </a:spcBef>
              <a:defRPr sz="1150">
                <a:solidFill>
                  <a:srgbClr val="4B5563"/>
                </a:solidFill>
              </a:defRPr>
            </a:pPr>
            <a:endParaRPr lang="en-US" dirty="0"/>
          </a:p>
          <a:p>
            <a:pPr>
              <a:spcBef>
                <a:spcPts val="300"/>
              </a:spcBef>
              <a:defRPr sz="1150">
                <a:solidFill>
                  <a:srgbClr val="4B5563"/>
                </a:solidFill>
              </a:defRPr>
            </a:pPr>
            <a:r>
              <a:rPr lang="en-US" dirty="0"/>
              <a:t>Personality and autonomy introduce uncertainty because not every agent follows the expected schedule. A social, tired, responsible, or risk-taking agent may behave differently.</a:t>
            </a:r>
            <a:endParaRPr dirty="0"/>
          </a:p>
        </p:txBody>
      </p:sp>
      <p:sp>
        <p:nvSpPr>
          <p:cNvPr id="11" name="Rounded Rectangle 10"/>
          <p:cNvSpPr/>
          <p:nvPr/>
        </p:nvSpPr>
        <p:spPr>
          <a:xfrm>
            <a:off x="8362841" y="608731"/>
            <a:ext cx="3063240" cy="3005776"/>
          </a:xfrm>
          <a:prstGeom prst="roundRect">
            <a:avLst/>
          </a:prstGeom>
          <a:solidFill>
            <a:srgbClr val="FFFFFF"/>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431008" y="608731"/>
            <a:ext cx="3063240" cy="7315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09193" y="771129"/>
            <a:ext cx="2660317" cy="2793072"/>
          </a:xfrm>
          <a:prstGeom prst="rect">
            <a:avLst/>
          </a:prstGeom>
          <a:noFill/>
        </p:spPr>
        <p:txBody>
          <a:bodyPr wrap="square">
            <a:spAutoFit/>
          </a:bodyPr>
          <a:lstStyle/>
          <a:p>
            <a:pPr>
              <a:defRPr sz="1500" b="1">
                <a:solidFill>
                  <a:srgbClr val="111827"/>
                </a:solidFill>
              </a:defRPr>
            </a:pPr>
            <a:r>
              <a:rPr dirty="0"/>
              <a:t>Outputs</a:t>
            </a:r>
            <a:endParaRPr lang="en-US" dirty="0"/>
          </a:p>
          <a:p>
            <a:pPr>
              <a:defRPr sz="1500" b="1">
                <a:solidFill>
                  <a:srgbClr val="111827"/>
                </a:solidFill>
              </a:defRPr>
            </a:pPr>
            <a:endParaRPr lang="en-US" dirty="0"/>
          </a:p>
          <a:p>
            <a:pPr>
              <a:spcBef>
                <a:spcPts val="300"/>
              </a:spcBef>
              <a:defRPr sz="1150">
                <a:solidFill>
                  <a:srgbClr val="4B5563"/>
                </a:solidFill>
              </a:defRPr>
            </a:pPr>
            <a:r>
              <a:rPr lang="en-US" dirty="0"/>
              <a:t>For each time slot, the system outputs the agent’s current location, expected location, next destination, and rebel status.</a:t>
            </a:r>
          </a:p>
          <a:p>
            <a:pPr>
              <a:spcBef>
                <a:spcPts val="300"/>
              </a:spcBef>
              <a:defRPr sz="1150">
                <a:solidFill>
                  <a:srgbClr val="4B5563"/>
                </a:solidFill>
              </a:defRPr>
            </a:pPr>
            <a:r>
              <a:rPr lang="en-US" dirty="0"/>
              <a:t>These outputs are shown in the map, the selected agent panel, and the Rebel Agents list.</a:t>
            </a:r>
          </a:p>
          <a:p>
            <a:pPr>
              <a:spcBef>
                <a:spcPts val="300"/>
              </a:spcBef>
              <a:defRPr sz="1150">
                <a:solidFill>
                  <a:srgbClr val="4B5563"/>
                </a:solidFill>
              </a:defRPr>
            </a:pPr>
            <a:r>
              <a:rPr lang="en-US" dirty="0"/>
              <a:t>This makes the simulation temporal because the agent state changes over time, and probabilistic because the actual behavior can differ from the expected schedule.</a:t>
            </a:r>
            <a:endParaRPr dirty="0"/>
          </a:p>
        </p:txBody>
      </p:sp>
      <p:pic>
        <p:nvPicPr>
          <p:cNvPr id="25" name="Picture 24" descr="A screenshot of a computer code&#10;&#10;Description automatically generated">
            <a:extLst>
              <a:ext uri="{FF2B5EF4-FFF2-40B4-BE49-F238E27FC236}">
                <a16:creationId xmlns:a16="http://schemas.microsoft.com/office/drawing/2014/main" id="{2FAE007D-A2F9-142E-4C1B-E150A5732EA5}"/>
              </a:ext>
            </a:extLst>
          </p:cNvPr>
          <p:cNvPicPr>
            <a:picLocks noChangeAspect="1"/>
          </p:cNvPicPr>
          <p:nvPr/>
        </p:nvPicPr>
        <p:blipFill>
          <a:blip r:embed="rId2"/>
          <a:stretch>
            <a:fillRect/>
          </a:stretch>
        </p:blipFill>
        <p:spPr>
          <a:xfrm>
            <a:off x="496349" y="3234038"/>
            <a:ext cx="3374636" cy="3614510"/>
          </a:xfrm>
          <a:prstGeom prst="rect">
            <a:avLst/>
          </a:prstGeom>
        </p:spPr>
      </p:pic>
      <p:pic>
        <p:nvPicPr>
          <p:cNvPr id="27" name="Picture 26" descr="A screenshot of a computer code&#10;&#10;Description automatically generated">
            <a:extLst>
              <a:ext uri="{FF2B5EF4-FFF2-40B4-BE49-F238E27FC236}">
                <a16:creationId xmlns:a16="http://schemas.microsoft.com/office/drawing/2014/main" id="{682DE2AA-A048-D8A9-2E3C-74DF1F53E6F4}"/>
              </a:ext>
            </a:extLst>
          </p:cNvPr>
          <p:cNvPicPr>
            <a:picLocks noChangeAspect="1"/>
          </p:cNvPicPr>
          <p:nvPr/>
        </p:nvPicPr>
        <p:blipFill>
          <a:blip r:embed="rId3"/>
          <a:stretch>
            <a:fillRect/>
          </a:stretch>
        </p:blipFill>
        <p:spPr>
          <a:xfrm>
            <a:off x="4497762" y="3194866"/>
            <a:ext cx="3384654" cy="3575339"/>
          </a:xfrm>
          <a:prstGeom prst="rect">
            <a:avLst/>
          </a:prstGeom>
        </p:spPr>
      </p:pic>
      <p:pic>
        <p:nvPicPr>
          <p:cNvPr id="29" name="Picture 28" descr="A computer screen shot of a program code&#10;&#10;Description automatically generated">
            <a:extLst>
              <a:ext uri="{FF2B5EF4-FFF2-40B4-BE49-F238E27FC236}">
                <a16:creationId xmlns:a16="http://schemas.microsoft.com/office/drawing/2014/main" id="{CB65E4F2-14D9-0943-5864-1FEB391F9963}"/>
              </a:ext>
            </a:extLst>
          </p:cNvPr>
          <p:cNvPicPr>
            <a:picLocks noChangeAspect="1"/>
          </p:cNvPicPr>
          <p:nvPr/>
        </p:nvPicPr>
        <p:blipFill>
          <a:blip r:embed="rId4"/>
          <a:stretch>
            <a:fillRect/>
          </a:stretch>
        </p:blipFill>
        <p:spPr>
          <a:xfrm>
            <a:off x="8138160" y="3643327"/>
            <a:ext cx="3566160" cy="279593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5709512" cy="553998"/>
          </a:xfrm>
          <a:prstGeom prst="rect">
            <a:avLst/>
          </a:prstGeom>
          <a:noFill/>
        </p:spPr>
        <p:txBody>
          <a:bodyPr wrap="none">
            <a:spAutoFit/>
          </a:bodyPr>
          <a:lstStyle/>
          <a:p>
            <a:pPr>
              <a:defRPr sz="3000" b="1">
                <a:solidFill>
                  <a:srgbClr val="111827"/>
                </a:solidFill>
              </a:defRPr>
            </a:pPr>
            <a:r>
              <a:rPr dirty="0"/>
              <a:t>Utility, VOI, and Rational Decisions</a:t>
            </a:r>
          </a:p>
        </p:txBody>
      </p:sp>
      <p:sp>
        <p:nvSpPr>
          <p:cNvPr id="3" name="TextBox 2"/>
          <p:cNvSpPr txBox="1"/>
          <p:nvPr/>
        </p:nvSpPr>
        <p:spPr>
          <a:xfrm>
            <a:off x="548640" y="932688"/>
            <a:ext cx="2929520" cy="307777"/>
          </a:xfrm>
          <a:prstGeom prst="rect">
            <a:avLst/>
          </a:prstGeom>
          <a:noFill/>
        </p:spPr>
        <p:txBody>
          <a:bodyPr wrap="none">
            <a:spAutoFit/>
          </a:bodyPr>
          <a:lstStyle/>
          <a:p>
            <a:pPr>
              <a:defRPr sz="1400">
                <a:solidFill>
                  <a:srgbClr val="4B5563"/>
                </a:solidFill>
              </a:defRPr>
            </a:pPr>
            <a:r>
              <a:rPr dirty="0"/>
              <a:t>Chapter 16 - Making Simple Decisions</a:t>
            </a:r>
          </a:p>
        </p:txBody>
      </p:sp>
      <p:sp>
        <p:nvSpPr>
          <p:cNvPr id="4" name="TextBox 3"/>
          <p:cNvSpPr txBox="1"/>
          <p:nvPr/>
        </p:nvSpPr>
        <p:spPr>
          <a:xfrm>
            <a:off x="10698480" y="6446520"/>
            <a:ext cx="1005840" cy="228600"/>
          </a:xfrm>
          <a:prstGeom prst="rect">
            <a:avLst/>
          </a:prstGeom>
          <a:noFill/>
        </p:spPr>
        <p:txBody>
          <a:bodyPr wrap="none">
            <a:spAutoFit/>
          </a:bodyPr>
          <a:lstStyle/>
          <a:p>
            <a:pPr algn="r">
              <a:defRPr sz="1000">
                <a:solidFill>
                  <a:srgbClr val="4B5563"/>
                </a:solidFill>
              </a:defRPr>
            </a:pPr>
            <a:r>
              <a:t>4/10</a:t>
            </a:r>
          </a:p>
        </p:txBody>
      </p:sp>
      <p:sp>
        <p:nvSpPr>
          <p:cNvPr id="5" name="Rounded Rectangle 4"/>
          <p:cNvSpPr/>
          <p:nvPr/>
        </p:nvSpPr>
        <p:spPr>
          <a:xfrm>
            <a:off x="731520" y="1417320"/>
            <a:ext cx="5120640" cy="2374504"/>
          </a:xfrm>
          <a:prstGeom prst="roundRect">
            <a:avLst/>
          </a:prstGeom>
          <a:solidFill>
            <a:srgbClr val="FFFFFF"/>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417320"/>
            <a:ext cx="512064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748853"/>
            <a:ext cx="4563445" cy="2223686"/>
          </a:xfrm>
          <a:prstGeom prst="rect">
            <a:avLst/>
          </a:prstGeom>
          <a:noFill/>
        </p:spPr>
        <p:txBody>
          <a:bodyPr wrap="square">
            <a:spAutoFit/>
          </a:bodyPr>
          <a:lstStyle/>
          <a:p>
            <a:pPr>
              <a:defRPr sz="1500" b="1">
                <a:solidFill>
                  <a:srgbClr val="111827"/>
                </a:solidFill>
              </a:defRPr>
            </a:pPr>
            <a:r>
              <a:rPr dirty="0"/>
              <a:t>Expected Utility</a:t>
            </a:r>
          </a:p>
          <a:p>
            <a:pPr>
              <a:spcBef>
                <a:spcPts val="300"/>
              </a:spcBef>
              <a:defRPr sz="1150">
                <a:solidFill>
                  <a:srgbClr val="4B5563"/>
                </a:solidFill>
              </a:defRPr>
            </a:pPr>
            <a:r>
              <a:rPr sz="1050" dirty="0"/>
              <a:t>Compares destinations</a:t>
            </a:r>
          </a:p>
          <a:p>
            <a:pPr>
              <a:spcBef>
                <a:spcPts val="300"/>
              </a:spcBef>
              <a:defRPr sz="1150">
                <a:solidFill>
                  <a:srgbClr val="4B5563"/>
                </a:solidFill>
              </a:defRPr>
            </a:pPr>
            <a:r>
              <a:rPr sz="1050" dirty="0"/>
              <a:t>Uses schedule fit, distance, crowding</a:t>
            </a:r>
          </a:p>
          <a:p>
            <a:pPr>
              <a:spcBef>
                <a:spcPts val="300"/>
              </a:spcBef>
              <a:defRPr sz="1150">
                <a:solidFill>
                  <a:srgbClr val="4B5563"/>
                </a:solidFill>
              </a:defRPr>
            </a:pPr>
            <a:r>
              <a:rPr sz="1050" dirty="0"/>
              <a:t>Adds personality/location preferences</a:t>
            </a:r>
          </a:p>
          <a:p>
            <a:pPr>
              <a:spcBef>
                <a:spcPts val="300"/>
              </a:spcBef>
              <a:defRPr sz="1150">
                <a:solidFill>
                  <a:srgbClr val="4B5563"/>
                </a:solidFill>
              </a:defRPr>
            </a:pPr>
            <a:r>
              <a:rPr sz="1050" dirty="0"/>
              <a:t>Explains why one destination is better</a:t>
            </a:r>
            <a:endParaRPr lang="en-US" sz="1050" dirty="0"/>
          </a:p>
          <a:p>
            <a:pPr>
              <a:spcBef>
                <a:spcPts val="300"/>
              </a:spcBef>
              <a:defRPr sz="1150">
                <a:solidFill>
                  <a:srgbClr val="4B5563"/>
                </a:solidFill>
              </a:defRPr>
            </a:pPr>
            <a:endParaRPr lang="en-US" sz="1050" dirty="0"/>
          </a:p>
          <a:p>
            <a:pPr>
              <a:spcBef>
                <a:spcPts val="300"/>
              </a:spcBef>
              <a:defRPr sz="1150">
                <a:solidFill>
                  <a:srgbClr val="4B5563"/>
                </a:solidFill>
              </a:defRPr>
            </a:pPr>
            <a:r>
              <a:rPr lang="en-US" sz="1050" dirty="0"/>
              <a:t>The code uses expected utility to compare possible destinations for an agent. Instead of choosing a location randomly, the Campus AI Reasoner scores destinations based on schedule fit, distance, crowding, and whether the location matches the agent’s type or personality.</a:t>
            </a:r>
          </a:p>
          <a:p>
            <a:pPr>
              <a:spcBef>
                <a:spcPts val="300"/>
              </a:spcBef>
              <a:defRPr sz="1150">
                <a:solidFill>
                  <a:srgbClr val="4B5563"/>
                </a:solidFill>
              </a:defRPr>
            </a:pPr>
            <a:endParaRPr lang="en-US" dirty="0"/>
          </a:p>
        </p:txBody>
      </p:sp>
      <p:sp>
        <p:nvSpPr>
          <p:cNvPr id="8" name="Rounded Rectangle 7"/>
          <p:cNvSpPr/>
          <p:nvPr/>
        </p:nvSpPr>
        <p:spPr>
          <a:xfrm>
            <a:off x="6309360" y="1417320"/>
            <a:ext cx="5120640" cy="2146742"/>
          </a:xfrm>
          <a:prstGeom prst="roundRect">
            <a:avLst/>
          </a:prstGeom>
          <a:solidFill>
            <a:srgbClr val="FFFFFF"/>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309360" y="1417320"/>
            <a:ext cx="5120640"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10528" y="1581912"/>
            <a:ext cx="4319659" cy="2146742"/>
          </a:xfrm>
          <a:prstGeom prst="rect">
            <a:avLst/>
          </a:prstGeom>
          <a:noFill/>
        </p:spPr>
        <p:txBody>
          <a:bodyPr wrap="square">
            <a:spAutoFit/>
          </a:bodyPr>
          <a:lstStyle/>
          <a:p>
            <a:pPr>
              <a:defRPr sz="1500" b="1">
                <a:solidFill>
                  <a:srgbClr val="111827"/>
                </a:solidFill>
              </a:defRPr>
            </a:pPr>
            <a:r>
              <a:rPr dirty="0"/>
              <a:t>Value of Information</a:t>
            </a:r>
          </a:p>
          <a:p>
            <a:pPr>
              <a:spcBef>
                <a:spcPts val="300"/>
              </a:spcBef>
              <a:defRPr sz="1150">
                <a:solidFill>
                  <a:srgbClr val="4B5563"/>
                </a:solidFill>
              </a:defRPr>
            </a:pPr>
            <a:r>
              <a:rPr dirty="0"/>
              <a:t>Estimates whether checking a location is useful</a:t>
            </a:r>
          </a:p>
          <a:p>
            <a:pPr>
              <a:spcBef>
                <a:spcPts val="300"/>
              </a:spcBef>
              <a:defRPr sz="1150">
                <a:solidFill>
                  <a:srgbClr val="4B5563"/>
                </a:solidFill>
              </a:defRPr>
            </a:pPr>
            <a:r>
              <a:rPr dirty="0"/>
              <a:t>Supports sensing/crowd-checking behavior</a:t>
            </a:r>
          </a:p>
          <a:p>
            <a:pPr>
              <a:spcBef>
                <a:spcPts val="300"/>
              </a:spcBef>
              <a:defRPr sz="1150">
                <a:solidFill>
                  <a:srgbClr val="4B5563"/>
                </a:solidFill>
              </a:defRPr>
            </a:pPr>
            <a:r>
              <a:rPr dirty="0"/>
              <a:t>Appears in Campus AI Reasoning Evidence</a:t>
            </a:r>
            <a:endParaRPr lang="en-US" dirty="0"/>
          </a:p>
          <a:p>
            <a:pPr>
              <a:spcBef>
                <a:spcPts val="300"/>
              </a:spcBef>
              <a:defRPr sz="1150">
                <a:solidFill>
                  <a:srgbClr val="4B5563"/>
                </a:solidFill>
              </a:defRPr>
            </a:pPr>
            <a:endParaRPr lang="en-US" dirty="0"/>
          </a:p>
          <a:p>
            <a:pPr>
              <a:spcBef>
                <a:spcPts val="300"/>
              </a:spcBef>
              <a:defRPr sz="1150">
                <a:solidFill>
                  <a:srgbClr val="4B5563"/>
                </a:solidFill>
              </a:defRPr>
            </a:pPr>
            <a:r>
              <a:rPr lang="en-US" dirty="0"/>
              <a:t>The code also applies Value of Information by estimating whether it is useful for an agent to check more information before moving. In the project, this is connected to crowd-checking and sensing behavior.</a:t>
            </a:r>
          </a:p>
          <a:p>
            <a:pPr>
              <a:spcBef>
                <a:spcPts val="300"/>
              </a:spcBef>
              <a:defRPr sz="1150">
                <a:solidFill>
                  <a:srgbClr val="4B5563"/>
                </a:solidFill>
              </a:defRPr>
            </a:pPr>
            <a:endParaRPr lang="en-US" dirty="0"/>
          </a:p>
        </p:txBody>
      </p:sp>
      <p:pic>
        <p:nvPicPr>
          <p:cNvPr id="18" name="Picture 17" descr="A screenshot of a computer program&#10;&#10;Description automatically generated">
            <a:extLst>
              <a:ext uri="{FF2B5EF4-FFF2-40B4-BE49-F238E27FC236}">
                <a16:creationId xmlns:a16="http://schemas.microsoft.com/office/drawing/2014/main" id="{C2712F8B-C340-D3A6-FA8C-A8998E4F362A}"/>
              </a:ext>
            </a:extLst>
          </p:cNvPr>
          <p:cNvPicPr>
            <a:picLocks noChangeAspect="1"/>
          </p:cNvPicPr>
          <p:nvPr/>
        </p:nvPicPr>
        <p:blipFill>
          <a:blip r:embed="rId2"/>
          <a:stretch>
            <a:fillRect/>
          </a:stretch>
        </p:blipFill>
        <p:spPr>
          <a:xfrm>
            <a:off x="914399" y="3791824"/>
            <a:ext cx="4194495" cy="2988041"/>
          </a:xfrm>
          <a:prstGeom prst="rect">
            <a:avLst/>
          </a:prstGeom>
        </p:spPr>
      </p:pic>
      <p:pic>
        <p:nvPicPr>
          <p:cNvPr id="20" name="Picture 19" descr="A computer screen shot of a code&#10;&#10;Description automatically generated">
            <a:extLst>
              <a:ext uri="{FF2B5EF4-FFF2-40B4-BE49-F238E27FC236}">
                <a16:creationId xmlns:a16="http://schemas.microsoft.com/office/drawing/2014/main" id="{04336765-F8CB-D46A-6163-01456DA0F138}"/>
              </a:ext>
            </a:extLst>
          </p:cNvPr>
          <p:cNvPicPr>
            <a:picLocks noChangeAspect="1"/>
          </p:cNvPicPr>
          <p:nvPr/>
        </p:nvPicPr>
        <p:blipFill>
          <a:blip r:embed="rId3"/>
          <a:stretch>
            <a:fillRect/>
          </a:stretch>
        </p:blipFill>
        <p:spPr>
          <a:xfrm>
            <a:off x="6096000" y="3646786"/>
            <a:ext cx="5710491" cy="255241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7368620" cy="553998"/>
          </a:xfrm>
          <a:prstGeom prst="rect">
            <a:avLst/>
          </a:prstGeom>
          <a:noFill/>
        </p:spPr>
        <p:txBody>
          <a:bodyPr wrap="none">
            <a:spAutoFit/>
          </a:bodyPr>
          <a:lstStyle/>
          <a:p>
            <a:pPr>
              <a:defRPr sz="3000" b="1">
                <a:solidFill>
                  <a:srgbClr val="111827"/>
                </a:solidFill>
              </a:defRPr>
            </a:pPr>
            <a:r>
              <a:rPr dirty="0"/>
              <a:t>Sequential Decisions and Campus Movement</a:t>
            </a:r>
          </a:p>
        </p:txBody>
      </p:sp>
      <p:sp>
        <p:nvSpPr>
          <p:cNvPr id="3" name="TextBox 2"/>
          <p:cNvSpPr txBox="1"/>
          <p:nvPr/>
        </p:nvSpPr>
        <p:spPr>
          <a:xfrm>
            <a:off x="548640" y="932688"/>
            <a:ext cx="3072701" cy="307777"/>
          </a:xfrm>
          <a:prstGeom prst="rect">
            <a:avLst/>
          </a:prstGeom>
          <a:noFill/>
        </p:spPr>
        <p:txBody>
          <a:bodyPr wrap="none">
            <a:spAutoFit/>
          </a:bodyPr>
          <a:lstStyle/>
          <a:p>
            <a:pPr>
              <a:defRPr sz="1400">
                <a:solidFill>
                  <a:srgbClr val="4B5563"/>
                </a:solidFill>
              </a:defRPr>
            </a:pPr>
            <a:r>
              <a:rPr dirty="0"/>
              <a:t>Chapter 17 - Making Complex Decisions</a:t>
            </a:r>
          </a:p>
        </p:txBody>
      </p:sp>
      <p:sp>
        <p:nvSpPr>
          <p:cNvPr id="4" name="TextBox 3"/>
          <p:cNvSpPr txBox="1"/>
          <p:nvPr/>
        </p:nvSpPr>
        <p:spPr>
          <a:xfrm>
            <a:off x="10698480" y="6446520"/>
            <a:ext cx="1005840" cy="228600"/>
          </a:xfrm>
          <a:prstGeom prst="rect">
            <a:avLst/>
          </a:prstGeom>
          <a:noFill/>
        </p:spPr>
        <p:txBody>
          <a:bodyPr wrap="none">
            <a:spAutoFit/>
          </a:bodyPr>
          <a:lstStyle/>
          <a:p>
            <a:pPr algn="r">
              <a:defRPr sz="1000">
                <a:solidFill>
                  <a:srgbClr val="4B5563"/>
                </a:solidFill>
              </a:defRPr>
            </a:pPr>
            <a:r>
              <a:t>5/10</a:t>
            </a:r>
          </a:p>
        </p:txBody>
      </p:sp>
      <p:sp>
        <p:nvSpPr>
          <p:cNvPr id="15" name="Rounded Rectangle 14">
            <a:extLst>
              <a:ext uri="{FF2B5EF4-FFF2-40B4-BE49-F238E27FC236}">
                <a16:creationId xmlns:a16="http://schemas.microsoft.com/office/drawing/2014/main" id="{59B6283A-BEDB-5413-91CB-FD0FED41BF78}"/>
              </a:ext>
            </a:extLst>
          </p:cNvPr>
          <p:cNvSpPr/>
          <p:nvPr/>
        </p:nvSpPr>
        <p:spPr>
          <a:xfrm>
            <a:off x="704676" y="1371600"/>
            <a:ext cx="5391324" cy="1262543"/>
          </a:xfrm>
          <a:prstGeom prst="roundRect">
            <a:avLst/>
          </a:prstGeom>
          <a:solidFill>
            <a:srgbClr val="FFFFFF"/>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479399"/>
            <a:ext cx="5303520" cy="1038746"/>
          </a:xfrm>
          <a:prstGeom prst="rect">
            <a:avLst/>
          </a:prstGeom>
          <a:noFill/>
        </p:spPr>
        <p:txBody>
          <a:bodyPr wrap="square">
            <a:spAutoFit/>
          </a:bodyPr>
          <a:lstStyle/>
          <a:p>
            <a:pPr>
              <a:spcAft>
                <a:spcPts val="700"/>
              </a:spcAft>
              <a:defRPr sz="1600">
                <a:solidFill>
                  <a:srgbClr val="111827"/>
                </a:solidFill>
              </a:defRPr>
            </a:pPr>
            <a:r>
              <a:rPr sz="1100" dirty="0"/>
              <a:t>Agents move through a sequence of time slots.</a:t>
            </a:r>
          </a:p>
          <a:p>
            <a:pPr>
              <a:spcAft>
                <a:spcPts val="700"/>
              </a:spcAft>
              <a:defRPr sz="1600">
                <a:solidFill>
                  <a:srgbClr val="111827"/>
                </a:solidFill>
              </a:defRPr>
            </a:pPr>
            <a:r>
              <a:rPr sz="1100" dirty="0"/>
              <a:t>The app tracks next destination and visual movement path.</a:t>
            </a:r>
          </a:p>
          <a:p>
            <a:pPr>
              <a:spcAft>
                <a:spcPts val="700"/>
              </a:spcAft>
              <a:defRPr sz="1600">
                <a:solidFill>
                  <a:srgbClr val="111827"/>
                </a:solidFill>
              </a:defRPr>
            </a:pPr>
            <a:r>
              <a:rPr sz="1100" dirty="0"/>
              <a:t>Movement uses campus paths instead of straight-line teleporting.</a:t>
            </a:r>
          </a:p>
          <a:p>
            <a:pPr>
              <a:spcAft>
                <a:spcPts val="700"/>
              </a:spcAft>
              <a:defRPr sz="1600">
                <a:solidFill>
                  <a:srgbClr val="111827"/>
                </a:solidFill>
              </a:defRPr>
            </a:pPr>
            <a:r>
              <a:rPr sz="1100" dirty="0"/>
              <a:t>Decision state includes current, expected, and target location.</a:t>
            </a:r>
          </a:p>
        </p:txBody>
      </p:sp>
      <p:sp>
        <p:nvSpPr>
          <p:cNvPr id="6" name="Rounded Rectangle 5"/>
          <p:cNvSpPr/>
          <p:nvPr/>
        </p:nvSpPr>
        <p:spPr>
          <a:xfrm>
            <a:off x="6492240" y="1508760"/>
            <a:ext cx="4572000" cy="1570000"/>
          </a:xfrm>
          <a:prstGeom prst="roundRect">
            <a:avLst/>
          </a:prstGeom>
          <a:solidFill>
            <a:srgbClr val="FFFFFF"/>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92240" y="1508760"/>
            <a:ext cx="4572000" cy="73152"/>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93407" y="1673351"/>
            <a:ext cx="4169663" cy="3337560"/>
          </a:xfrm>
          <a:prstGeom prst="rect">
            <a:avLst/>
          </a:prstGeom>
          <a:noFill/>
        </p:spPr>
        <p:txBody>
          <a:bodyPr wrap="none">
            <a:spAutoFit/>
          </a:bodyPr>
          <a:lstStyle/>
          <a:p>
            <a:pPr>
              <a:defRPr sz="1500" b="1">
                <a:solidFill>
                  <a:srgbClr val="111827"/>
                </a:solidFill>
              </a:defRPr>
            </a:pPr>
            <a:r>
              <a:rPr dirty="0"/>
              <a:t>Sequential State</a:t>
            </a:r>
          </a:p>
          <a:p>
            <a:pPr>
              <a:spcBef>
                <a:spcPts val="300"/>
              </a:spcBef>
              <a:defRPr sz="1150">
                <a:solidFill>
                  <a:srgbClr val="4B5563"/>
                </a:solidFill>
              </a:defRPr>
            </a:pPr>
            <a:r>
              <a:rPr dirty="0"/>
              <a:t>State: time + location + obligation</a:t>
            </a:r>
          </a:p>
          <a:p>
            <a:pPr>
              <a:spcBef>
                <a:spcPts val="300"/>
              </a:spcBef>
              <a:defRPr sz="1150">
                <a:solidFill>
                  <a:srgbClr val="4B5563"/>
                </a:solidFill>
              </a:defRPr>
            </a:pPr>
            <a:r>
              <a:rPr dirty="0"/>
              <a:t>Action: move, stay, follow, rebel</a:t>
            </a:r>
          </a:p>
          <a:p>
            <a:pPr>
              <a:spcBef>
                <a:spcPts val="300"/>
              </a:spcBef>
              <a:defRPr sz="1150">
                <a:solidFill>
                  <a:srgbClr val="4B5563"/>
                </a:solidFill>
              </a:defRPr>
            </a:pPr>
            <a:r>
              <a:rPr dirty="0"/>
              <a:t>Transition: new location in next time slot</a:t>
            </a:r>
          </a:p>
          <a:p>
            <a:pPr>
              <a:spcBef>
                <a:spcPts val="300"/>
              </a:spcBef>
              <a:defRPr sz="1150">
                <a:solidFill>
                  <a:srgbClr val="4B5563"/>
                </a:solidFill>
              </a:defRPr>
            </a:pPr>
            <a:r>
              <a:rPr dirty="0"/>
              <a:t>Outcome: alignment or rebel status</a:t>
            </a:r>
          </a:p>
        </p:txBody>
      </p:sp>
      <p:pic>
        <p:nvPicPr>
          <p:cNvPr id="14" name="Picture 13" descr="A computer screen shot of a code&#10;&#10;Description automatically generated">
            <a:extLst>
              <a:ext uri="{FF2B5EF4-FFF2-40B4-BE49-F238E27FC236}">
                <a16:creationId xmlns:a16="http://schemas.microsoft.com/office/drawing/2014/main" id="{BF967774-C813-F2E6-2747-67DEB289D055}"/>
              </a:ext>
            </a:extLst>
          </p:cNvPr>
          <p:cNvPicPr>
            <a:picLocks noChangeAspect="1"/>
          </p:cNvPicPr>
          <p:nvPr/>
        </p:nvPicPr>
        <p:blipFill>
          <a:blip r:embed="rId2"/>
          <a:stretch>
            <a:fillRect/>
          </a:stretch>
        </p:blipFill>
        <p:spPr>
          <a:xfrm>
            <a:off x="6376100" y="3396197"/>
            <a:ext cx="4992940" cy="3050323"/>
          </a:xfrm>
          <a:prstGeom prst="rect">
            <a:avLst/>
          </a:prstGeom>
        </p:spPr>
      </p:pic>
      <p:pic>
        <p:nvPicPr>
          <p:cNvPr id="20" name="Picture 19" descr="A screenshot of a computer code&#10;&#10;Description automatically generated">
            <a:extLst>
              <a:ext uri="{FF2B5EF4-FFF2-40B4-BE49-F238E27FC236}">
                <a16:creationId xmlns:a16="http://schemas.microsoft.com/office/drawing/2014/main" id="{0F8F5310-3420-BAE0-BB15-989F48EB5996}"/>
              </a:ext>
            </a:extLst>
          </p:cNvPr>
          <p:cNvPicPr>
            <a:picLocks noChangeAspect="1"/>
          </p:cNvPicPr>
          <p:nvPr/>
        </p:nvPicPr>
        <p:blipFill>
          <a:blip r:embed="rId3"/>
          <a:stretch>
            <a:fillRect/>
          </a:stretch>
        </p:blipFill>
        <p:spPr>
          <a:xfrm>
            <a:off x="672348" y="2765278"/>
            <a:ext cx="2825284" cy="317301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6698244" cy="553998"/>
          </a:xfrm>
          <a:prstGeom prst="rect">
            <a:avLst/>
          </a:prstGeom>
          <a:noFill/>
        </p:spPr>
        <p:txBody>
          <a:bodyPr wrap="none">
            <a:spAutoFit/>
          </a:bodyPr>
          <a:lstStyle/>
          <a:p>
            <a:pPr>
              <a:defRPr sz="3000" b="1">
                <a:solidFill>
                  <a:srgbClr val="111827"/>
                </a:solidFill>
              </a:defRPr>
            </a:pPr>
            <a:r>
              <a:rPr dirty="0"/>
              <a:t>Multi-Agent Reasoning and Rebel Agents</a:t>
            </a:r>
          </a:p>
        </p:txBody>
      </p:sp>
      <p:sp>
        <p:nvSpPr>
          <p:cNvPr id="3" name="TextBox 2"/>
          <p:cNvSpPr txBox="1"/>
          <p:nvPr/>
        </p:nvSpPr>
        <p:spPr>
          <a:xfrm>
            <a:off x="548640" y="932688"/>
            <a:ext cx="3516284" cy="307777"/>
          </a:xfrm>
          <a:prstGeom prst="rect">
            <a:avLst/>
          </a:prstGeom>
          <a:noFill/>
        </p:spPr>
        <p:txBody>
          <a:bodyPr wrap="none">
            <a:spAutoFit/>
          </a:bodyPr>
          <a:lstStyle/>
          <a:p>
            <a:pPr>
              <a:defRPr sz="1400">
                <a:solidFill>
                  <a:srgbClr val="4B5563"/>
                </a:solidFill>
              </a:defRPr>
            </a:pPr>
            <a:r>
              <a:rPr dirty="0"/>
              <a:t>Chapter 17.5 - Decisions with Multiple Agents</a:t>
            </a:r>
          </a:p>
        </p:txBody>
      </p:sp>
      <p:sp>
        <p:nvSpPr>
          <p:cNvPr id="4" name="TextBox 3"/>
          <p:cNvSpPr txBox="1"/>
          <p:nvPr/>
        </p:nvSpPr>
        <p:spPr>
          <a:xfrm>
            <a:off x="10698480" y="6446520"/>
            <a:ext cx="1005840" cy="228600"/>
          </a:xfrm>
          <a:prstGeom prst="rect">
            <a:avLst/>
          </a:prstGeom>
          <a:noFill/>
        </p:spPr>
        <p:txBody>
          <a:bodyPr wrap="none">
            <a:spAutoFit/>
          </a:bodyPr>
          <a:lstStyle/>
          <a:p>
            <a:pPr algn="r">
              <a:defRPr sz="1000">
                <a:solidFill>
                  <a:srgbClr val="4B5563"/>
                </a:solidFill>
              </a:defRPr>
            </a:pPr>
            <a:r>
              <a:t>6/10</a:t>
            </a:r>
          </a:p>
        </p:txBody>
      </p:sp>
      <p:sp>
        <p:nvSpPr>
          <p:cNvPr id="5" name="Rounded Rectangle 4"/>
          <p:cNvSpPr/>
          <p:nvPr/>
        </p:nvSpPr>
        <p:spPr>
          <a:xfrm>
            <a:off x="731520" y="1325880"/>
            <a:ext cx="3520440" cy="2818281"/>
          </a:xfrm>
          <a:prstGeom prst="roundRect">
            <a:avLst/>
          </a:prstGeom>
          <a:solidFill>
            <a:srgbClr val="FFFFFF"/>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325880"/>
            <a:ext cx="352044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1490472"/>
            <a:ext cx="2968193" cy="2423740"/>
          </a:xfrm>
          <a:prstGeom prst="rect">
            <a:avLst/>
          </a:prstGeom>
          <a:noFill/>
        </p:spPr>
        <p:txBody>
          <a:bodyPr wrap="square">
            <a:spAutoFit/>
          </a:bodyPr>
          <a:lstStyle/>
          <a:p>
            <a:pPr>
              <a:defRPr sz="1500" b="1">
                <a:solidFill>
                  <a:srgbClr val="111827"/>
                </a:solidFill>
              </a:defRPr>
            </a:pPr>
            <a:r>
              <a:rPr dirty="0"/>
              <a:t>50 Agents</a:t>
            </a:r>
          </a:p>
          <a:p>
            <a:pPr>
              <a:spcBef>
                <a:spcPts val="300"/>
              </a:spcBef>
              <a:defRPr sz="1150">
                <a:solidFill>
                  <a:srgbClr val="4B5563"/>
                </a:solidFill>
              </a:defRPr>
            </a:pPr>
            <a:endParaRPr lang="en-US" dirty="0"/>
          </a:p>
          <a:p>
            <a:pPr>
              <a:spcBef>
                <a:spcPts val="300"/>
              </a:spcBef>
              <a:defRPr sz="1150">
                <a:solidFill>
                  <a:srgbClr val="4B5563"/>
                </a:solidFill>
              </a:defRPr>
            </a:pPr>
            <a:r>
              <a:rPr lang="en-US" dirty="0"/>
              <a:t>The agents are divided into athletes, COPA students, and regular students. Some live in dorms and others live off campus. This gives the simulation a realistic campus population instead of only one or two example agents.</a:t>
            </a:r>
          </a:p>
          <a:p>
            <a:pPr>
              <a:spcBef>
                <a:spcPts val="300"/>
              </a:spcBef>
              <a:defRPr sz="1150">
                <a:solidFill>
                  <a:srgbClr val="4B5563"/>
                </a:solidFill>
              </a:defRPr>
            </a:pPr>
            <a:endParaRPr lang="en-US" dirty="0"/>
          </a:p>
          <a:p>
            <a:pPr>
              <a:spcBef>
                <a:spcPts val="300"/>
              </a:spcBef>
              <a:defRPr sz="1150">
                <a:solidFill>
                  <a:srgbClr val="4B5563"/>
                </a:solidFill>
              </a:defRPr>
            </a:pPr>
            <a:r>
              <a:rPr lang="en-US" dirty="0"/>
              <a:t>At every time slot, the code updates each agent’s expected location based on its schedule and compares it with the actual location where the agent chose to be.</a:t>
            </a:r>
            <a:endParaRPr dirty="0"/>
          </a:p>
        </p:txBody>
      </p:sp>
      <p:sp>
        <p:nvSpPr>
          <p:cNvPr id="8" name="Rounded Rectangle 7"/>
          <p:cNvSpPr/>
          <p:nvPr/>
        </p:nvSpPr>
        <p:spPr>
          <a:xfrm>
            <a:off x="4562856" y="1325880"/>
            <a:ext cx="3520440" cy="2507889"/>
          </a:xfrm>
          <a:prstGeom prst="roundRect">
            <a:avLst/>
          </a:prstGeom>
          <a:solidFill>
            <a:srgbClr val="FFFFFF"/>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26280" y="1325880"/>
            <a:ext cx="3520440" cy="73152"/>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64024" y="1490472"/>
            <a:ext cx="3079682" cy="2262158"/>
          </a:xfrm>
          <a:prstGeom prst="rect">
            <a:avLst/>
          </a:prstGeom>
          <a:noFill/>
        </p:spPr>
        <p:txBody>
          <a:bodyPr wrap="square">
            <a:spAutoFit/>
          </a:bodyPr>
          <a:lstStyle/>
          <a:p>
            <a:pPr>
              <a:defRPr sz="1500" b="1">
                <a:solidFill>
                  <a:srgbClr val="111827"/>
                </a:solidFill>
              </a:defRPr>
            </a:pPr>
            <a:r>
              <a:rPr dirty="0"/>
              <a:t>Social Awareness</a:t>
            </a:r>
            <a:endParaRPr lang="en-US" dirty="0"/>
          </a:p>
          <a:p>
            <a:pPr>
              <a:defRPr sz="1500" b="1">
                <a:solidFill>
                  <a:srgbClr val="111827"/>
                </a:solidFill>
              </a:defRPr>
            </a:pPr>
            <a:endParaRPr lang="en-US" dirty="0"/>
          </a:p>
          <a:p>
            <a:pPr>
              <a:spcBef>
                <a:spcPts val="300"/>
              </a:spcBef>
              <a:defRPr sz="1150">
                <a:solidFill>
                  <a:srgbClr val="4B5563"/>
                </a:solidFill>
              </a:defRPr>
            </a:pPr>
            <a:r>
              <a:rPr lang="en-US" dirty="0"/>
              <a:t>The system checks which agents are currently in the same location. When the user asks “Who are you with?”, the backend searches the full list of agents and returns the names, agent IDs, and student types of nearby agents.</a:t>
            </a:r>
          </a:p>
          <a:p>
            <a:pPr>
              <a:spcBef>
                <a:spcPts val="300"/>
              </a:spcBef>
              <a:defRPr sz="1150">
                <a:solidFill>
                  <a:srgbClr val="4B5563"/>
                </a:solidFill>
              </a:defRPr>
            </a:pPr>
            <a:endParaRPr lang="en-US" dirty="0"/>
          </a:p>
          <a:p>
            <a:pPr>
              <a:spcBef>
                <a:spcPts val="300"/>
              </a:spcBef>
              <a:defRPr sz="1150">
                <a:solidFill>
                  <a:srgbClr val="4B5563"/>
                </a:solidFill>
              </a:defRPr>
            </a:pPr>
            <a:r>
              <a:rPr lang="en-US" dirty="0"/>
              <a:t>This means the selected agent is not answering alone. It is aware of the multi-agent environment around it.</a:t>
            </a:r>
          </a:p>
        </p:txBody>
      </p:sp>
      <p:sp>
        <p:nvSpPr>
          <p:cNvPr id="11" name="Rounded Rectangle 10"/>
          <p:cNvSpPr/>
          <p:nvPr/>
        </p:nvSpPr>
        <p:spPr>
          <a:xfrm>
            <a:off x="8321039" y="1325880"/>
            <a:ext cx="3742329" cy="2700532"/>
          </a:xfrm>
          <a:prstGeom prst="roundRect">
            <a:avLst/>
          </a:prstGeom>
          <a:solidFill>
            <a:srgbClr val="FFFFFF"/>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321040" y="1325880"/>
            <a:ext cx="3063240"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22208" y="1490472"/>
            <a:ext cx="3182112" cy="2439129"/>
          </a:xfrm>
          <a:prstGeom prst="rect">
            <a:avLst/>
          </a:prstGeom>
          <a:noFill/>
        </p:spPr>
        <p:txBody>
          <a:bodyPr wrap="square">
            <a:spAutoFit/>
          </a:bodyPr>
          <a:lstStyle/>
          <a:p>
            <a:pPr>
              <a:defRPr sz="1500" b="1">
                <a:solidFill>
                  <a:srgbClr val="111827"/>
                </a:solidFill>
              </a:defRPr>
            </a:pPr>
            <a:r>
              <a:rPr dirty="0"/>
              <a:t>Rebel Agents</a:t>
            </a:r>
            <a:endParaRPr lang="en-US" dirty="0"/>
          </a:p>
          <a:p>
            <a:pPr>
              <a:defRPr sz="1500" b="1">
                <a:solidFill>
                  <a:srgbClr val="111827"/>
                </a:solidFill>
              </a:defRPr>
            </a:pPr>
            <a:endParaRPr lang="en-US" dirty="0"/>
          </a:p>
          <a:p>
            <a:pPr>
              <a:spcBef>
                <a:spcPts val="300"/>
              </a:spcBef>
              <a:defRPr sz="1150">
                <a:solidFill>
                  <a:srgbClr val="4B5563"/>
                </a:solidFill>
              </a:defRPr>
            </a:pPr>
            <a:r>
              <a:rPr lang="en-US" dirty="0"/>
              <a:t>A rebel agent is an agent whose actual location is different from its expected location. The code tracks this using </a:t>
            </a:r>
            <a:r>
              <a:rPr lang="en-US" dirty="0" err="1"/>
              <a:t>expected_location_now</a:t>
            </a:r>
            <a:r>
              <a:rPr lang="en-US" dirty="0"/>
              <a:t>, </a:t>
            </a:r>
            <a:r>
              <a:rPr lang="en-US" dirty="0" err="1"/>
              <a:t>current_location</a:t>
            </a:r>
            <a:r>
              <a:rPr lang="en-US" dirty="0"/>
              <a:t>, </a:t>
            </a:r>
            <a:r>
              <a:rPr lang="en-US" dirty="0" err="1"/>
              <a:t>is_rebel</a:t>
            </a:r>
            <a:r>
              <a:rPr lang="en-US" dirty="0"/>
              <a:t>, and </a:t>
            </a:r>
            <a:r>
              <a:rPr lang="en-US" dirty="0" err="1"/>
              <a:t>rebel_reason</a:t>
            </a:r>
            <a:r>
              <a:rPr lang="en-US" dirty="0"/>
              <a:t>.</a:t>
            </a:r>
          </a:p>
          <a:p>
            <a:pPr>
              <a:spcBef>
                <a:spcPts val="300"/>
              </a:spcBef>
              <a:defRPr sz="1150">
                <a:solidFill>
                  <a:srgbClr val="4B5563"/>
                </a:solidFill>
              </a:defRPr>
            </a:pPr>
            <a:r>
              <a:rPr lang="en-US" dirty="0"/>
              <a:t>Around 10%–15% of agents can deviate from their schedule depending on personality and time slot. </a:t>
            </a:r>
          </a:p>
          <a:p>
            <a:pPr>
              <a:spcBef>
                <a:spcPts val="300"/>
              </a:spcBef>
              <a:defRPr sz="1150">
                <a:solidFill>
                  <a:srgbClr val="4B5563"/>
                </a:solidFill>
              </a:defRPr>
            </a:pPr>
            <a:r>
              <a:rPr lang="en-US" dirty="0"/>
              <a:t>The Rebel Agents panel lists these agents under the map. When one is clicked, the same agent is selected on the map and in the agent information panel. </a:t>
            </a:r>
            <a:endParaRPr dirty="0"/>
          </a:p>
        </p:txBody>
      </p:sp>
      <p:pic>
        <p:nvPicPr>
          <p:cNvPr id="15" name="Picture 14" descr="A screen shot of a computer code&#10;&#10;Description automatically generated">
            <a:extLst>
              <a:ext uri="{FF2B5EF4-FFF2-40B4-BE49-F238E27FC236}">
                <a16:creationId xmlns:a16="http://schemas.microsoft.com/office/drawing/2014/main" id="{E0EC3C56-2B32-DDBC-B8A7-6216D4D8B93E}"/>
              </a:ext>
            </a:extLst>
          </p:cNvPr>
          <p:cNvPicPr>
            <a:picLocks noChangeAspect="1"/>
          </p:cNvPicPr>
          <p:nvPr/>
        </p:nvPicPr>
        <p:blipFill>
          <a:blip r:embed="rId2"/>
          <a:stretch>
            <a:fillRect/>
          </a:stretch>
        </p:blipFill>
        <p:spPr>
          <a:xfrm>
            <a:off x="731520" y="4099564"/>
            <a:ext cx="3330429" cy="2732105"/>
          </a:xfrm>
          <a:prstGeom prst="rect">
            <a:avLst/>
          </a:prstGeom>
        </p:spPr>
      </p:pic>
      <p:pic>
        <p:nvPicPr>
          <p:cNvPr id="17" name="Picture 16" descr="A screen shot of a computer code&#10;&#10;Description automatically generated">
            <a:extLst>
              <a:ext uri="{FF2B5EF4-FFF2-40B4-BE49-F238E27FC236}">
                <a16:creationId xmlns:a16="http://schemas.microsoft.com/office/drawing/2014/main" id="{A67D668B-BF6A-F76D-C66E-65CDB1BF2E64}"/>
              </a:ext>
            </a:extLst>
          </p:cNvPr>
          <p:cNvPicPr>
            <a:picLocks noChangeAspect="1"/>
          </p:cNvPicPr>
          <p:nvPr/>
        </p:nvPicPr>
        <p:blipFill>
          <a:blip r:embed="rId3"/>
          <a:stretch>
            <a:fillRect/>
          </a:stretch>
        </p:blipFill>
        <p:spPr>
          <a:xfrm>
            <a:off x="4252946" y="4099564"/>
            <a:ext cx="3913419" cy="1823064"/>
          </a:xfrm>
          <a:prstGeom prst="rect">
            <a:avLst/>
          </a:prstGeom>
        </p:spPr>
      </p:pic>
      <p:pic>
        <p:nvPicPr>
          <p:cNvPr id="19" name="Picture 18" descr="A computer screen shot of a code&#10;&#10;Description automatically generated">
            <a:extLst>
              <a:ext uri="{FF2B5EF4-FFF2-40B4-BE49-F238E27FC236}">
                <a16:creationId xmlns:a16="http://schemas.microsoft.com/office/drawing/2014/main" id="{0445452A-9E2E-2574-34EC-57F17C6355FC}"/>
              </a:ext>
            </a:extLst>
          </p:cNvPr>
          <p:cNvPicPr>
            <a:picLocks noChangeAspect="1"/>
          </p:cNvPicPr>
          <p:nvPr/>
        </p:nvPicPr>
        <p:blipFill>
          <a:blip r:embed="rId4"/>
          <a:stretch>
            <a:fillRect/>
          </a:stretch>
        </p:blipFill>
        <p:spPr>
          <a:xfrm>
            <a:off x="8098869" y="4021040"/>
            <a:ext cx="3737526" cy="242547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6147067" cy="553998"/>
          </a:xfrm>
          <a:prstGeom prst="rect">
            <a:avLst/>
          </a:prstGeom>
          <a:noFill/>
        </p:spPr>
        <p:txBody>
          <a:bodyPr wrap="none">
            <a:spAutoFit/>
          </a:bodyPr>
          <a:lstStyle/>
          <a:p>
            <a:pPr>
              <a:defRPr sz="3000" b="1">
                <a:solidFill>
                  <a:srgbClr val="111827"/>
                </a:solidFill>
              </a:defRPr>
            </a:pPr>
            <a:r>
              <a:rPr dirty="0"/>
              <a:t>Supervised and Probabilistic Learning</a:t>
            </a:r>
          </a:p>
        </p:txBody>
      </p:sp>
      <p:sp>
        <p:nvSpPr>
          <p:cNvPr id="3" name="TextBox 2"/>
          <p:cNvSpPr txBox="1"/>
          <p:nvPr/>
        </p:nvSpPr>
        <p:spPr>
          <a:xfrm>
            <a:off x="548640" y="932688"/>
            <a:ext cx="2150973" cy="307777"/>
          </a:xfrm>
          <a:prstGeom prst="rect">
            <a:avLst/>
          </a:prstGeom>
          <a:noFill/>
        </p:spPr>
        <p:txBody>
          <a:bodyPr wrap="none">
            <a:spAutoFit/>
          </a:bodyPr>
          <a:lstStyle/>
          <a:p>
            <a:pPr>
              <a:defRPr sz="1400">
                <a:solidFill>
                  <a:srgbClr val="4B5563"/>
                </a:solidFill>
              </a:defRPr>
            </a:pPr>
            <a:r>
              <a:rPr dirty="0"/>
              <a:t>Chapter 18 and Chapter 20</a:t>
            </a:r>
          </a:p>
        </p:txBody>
      </p:sp>
      <p:sp>
        <p:nvSpPr>
          <p:cNvPr id="4" name="TextBox 3"/>
          <p:cNvSpPr txBox="1"/>
          <p:nvPr/>
        </p:nvSpPr>
        <p:spPr>
          <a:xfrm>
            <a:off x="10698480" y="6446520"/>
            <a:ext cx="1005840" cy="228600"/>
          </a:xfrm>
          <a:prstGeom prst="rect">
            <a:avLst/>
          </a:prstGeom>
          <a:noFill/>
        </p:spPr>
        <p:txBody>
          <a:bodyPr wrap="none">
            <a:spAutoFit/>
          </a:bodyPr>
          <a:lstStyle/>
          <a:p>
            <a:pPr algn="r">
              <a:defRPr sz="1000">
                <a:solidFill>
                  <a:srgbClr val="4B5563"/>
                </a:solidFill>
              </a:defRPr>
            </a:pPr>
            <a:r>
              <a:t>7/10</a:t>
            </a:r>
          </a:p>
        </p:txBody>
      </p:sp>
      <p:sp>
        <p:nvSpPr>
          <p:cNvPr id="5" name="Rounded Rectangle 4"/>
          <p:cNvSpPr/>
          <p:nvPr/>
        </p:nvSpPr>
        <p:spPr>
          <a:xfrm>
            <a:off x="731520" y="1371599"/>
            <a:ext cx="5280660" cy="2806118"/>
          </a:xfrm>
          <a:prstGeom prst="roundRect">
            <a:avLst/>
          </a:prstGeom>
          <a:solidFill>
            <a:srgbClr val="FFFFFF"/>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Rectangle 5"/>
          <p:cNvSpPr/>
          <p:nvPr/>
        </p:nvSpPr>
        <p:spPr>
          <a:xfrm>
            <a:off x="731520" y="1371600"/>
            <a:ext cx="516636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53619" y="1457012"/>
            <a:ext cx="5058561" cy="3208571"/>
          </a:xfrm>
          <a:prstGeom prst="rect">
            <a:avLst/>
          </a:prstGeom>
          <a:noFill/>
        </p:spPr>
        <p:txBody>
          <a:bodyPr wrap="square">
            <a:spAutoFit/>
          </a:bodyPr>
          <a:lstStyle/>
          <a:p>
            <a:pPr>
              <a:defRPr sz="1500" b="1">
                <a:solidFill>
                  <a:srgbClr val="111827"/>
                </a:solidFill>
              </a:defRPr>
            </a:pPr>
            <a:r>
              <a:rPr dirty="0"/>
              <a:t>Supervised Learning</a:t>
            </a:r>
          </a:p>
          <a:p>
            <a:pPr>
              <a:spcBef>
                <a:spcPts val="300"/>
              </a:spcBef>
              <a:defRPr sz="1150">
                <a:solidFill>
                  <a:srgbClr val="4B5563"/>
                </a:solidFill>
              </a:defRPr>
            </a:pPr>
            <a:endParaRPr lang="en-US" dirty="0"/>
          </a:p>
          <a:p>
            <a:pPr>
              <a:spcBef>
                <a:spcPts val="300"/>
              </a:spcBef>
              <a:defRPr sz="1150">
                <a:solidFill>
                  <a:srgbClr val="4B5563"/>
                </a:solidFill>
              </a:defRPr>
            </a:pPr>
            <a:r>
              <a:rPr lang="en-US" dirty="0"/>
              <a:t>The project uses supervised learning in the neural NLP backend. The model is trained with labeled question examples, where each sentence is paired with an intent label such as </a:t>
            </a:r>
            <a:r>
              <a:rPr lang="en-US" dirty="0" err="1"/>
              <a:t>identity_query</a:t>
            </a:r>
            <a:r>
              <a:rPr lang="en-US" dirty="0"/>
              <a:t>, </a:t>
            </a:r>
            <a:r>
              <a:rPr lang="en-US" dirty="0" err="1"/>
              <a:t>social_presence_query</a:t>
            </a:r>
            <a:r>
              <a:rPr lang="en-US" dirty="0"/>
              <a:t>, </a:t>
            </a:r>
            <a:r>
              <a:rPr lang="en-US" dirty="0" err="1"/>
              <a:t>miss_class_request</a:t>
            </a:r>
            <a:r>
              <a:rPr lang="en-US" dirty="0"/>
              <a:t>, </a:t>
            </a:r>
            <a:r>
              <a:rPr lang="en-US" dirty="0" err="1"/>
              <a:t>user_instruction</a:t>
            </a:r>
            <a:r>
              <a:rPr lang="en-US" dirty="0"/>
              <a:t>, or </a:t>
            </a:r>
            <a:r>
              <a:rPr lang="en-US" dirty="0" err="1"/>
              <a:t>destination_reason</a:t>
            </a:r>
            <a:r>
              <a:rPr lang="en-US" dirty="0"/>
              <a:t>.</a:t>
            </a:r>
          </a:p>
          <a:p>
            <a:pPr>
              <a:spcBef>
                <a:spcPts val="300"/>
              </a:spcBef>
              <a:defRPr sz="1150">
                <a:solidFill>
                  <a:srgbClr val="4B5563"/>
                </a:solidFill>
              </a:defRPr>
            </a:pPr>
            <a:endParaRPr lang="en-US" dirty="0"/>
          </a:p>
          <a:p>
            <a:pPr>
              <a:spcBef>
                <a:spcPts val="300"/>
              </a:spcBef>
              <a:defRPr sz="1150">
                <a:solidFill>
                  <a:srgbClr val="4B5563"/>
                </a:solidFill>
              </a:defRPr>
            </a:pPr>
            <a:r>
              <a:rPr lang="en-US" dirty="0"/>
              <a:t>When the user asks a question, the backend classifies the text into one of these learned intent categories. The selected intent determines which reasoning path the agent uses to answer.</a:t>
            </a:r>
          </a:p>
          <a:p>
            <a:pPr>
              <a:spcBef>
                <a:spcPts val="300"/>
              </a:spcBef>
              <a:defRPr sz="1150">
                <a:solidFill>
                  <a:srgbClr val="4B5563"/>
                </a:solidFill>
              </a:defRPr>
            </a:pPr>
            <a:endParaRPr lang="en-US" dirty="0"/>
          </a:p>
          <a:p>
            <a:pPr>
              <a:spcBef>
                <a:spcPts val="300"/>
              </a:spcBef>
              <a:defRPr sz="1150">
                <a:solidFill>
                  <a:srgbClr val="4B5563"/>
                </a:solidFill>
              </a:defRPr>
            </a:pPr>
            <a:r>
              <a:rPr lang="en-US" dirty="0"/>
              <a:t>The system also reports confidence, attention weights, word representations, and model metrics.</a:t>
            </a:r>
            <a:br>
              <a:rPr lang="en-US" dirty="0"/>
            </a:br>
            <a:br>
              <a:rPr lang="en-US" dirty="0"/>
            </a:br>
            <a:br>
              <a:rPr lang="en-US" dirty="0"/>
            </a:br>
            <a:endParaRPr lang="en-US" dirty="0"/>
          </a:p>
        </p:txBody>
      </p:sp>
      <p:sp>
        <p:nvSpPr>
          <p:cNvPr id="8" name="Rounded Rectangle 7"/>
          <p:cNvSpPr/>
          <p:nvPr/>
        </p:nvSpPr>
        <p:spPr>
          <a:xfrm>
            <a:off x="6309360" y="1371601"/>
            <a:ext cx="5166360" cy="2386668"/>
          </a:xfrm>
          <a:prstGeom prst="roundRect">
            <a:avLst/>
          </a:prstGeom>
          <a:solidFill>
            <a:srgbClr val="FFFFFF"/>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309360" y="1371600"/>
            <a:ext cx="5166360" cy="7315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10528" y="1536192"/>
            <a:ext cx="5193792" cy="2300630"/>
          </a:xfrm>
          <a:prstGeom prst="rect">
            <a:avLst/>
          </a:prstGeom>
          <a:noFill/>
        </p:spPr>
        <p:txBody>
          <a:bodyPr wrap="square">
            <a:spAutoFit/>
          </a:bodyPr>
          <a:lstStyle/>
          <a:p>
            <a:pPr>
              <a:defRPr sz="1500" b="1">
                <a:solidFill>
                  <a:srgbClr val="111827"/>
                </a:solidFill>
              </a:defRPr>
            </a:pPr>
            <a:r>
              <a:rPr dirty="0"/>
              <a:t>Probabilistic Learning</a:t>
            </a:r>
            <a:endParaRPr lang="en-US" dirty="0"/>
          </a:p>
          <a:p>
            <a:pPr>
              <a:defRPr sz="1500" b="1">
                <a:solidFill>
                  <a:srgbClr val="111827"/>
                </a:solidFill>
              </a:defRPr>
            </a:pPr>
            <a:endParaRPr lang="en-US" dirty="0"/>
          </a:p>
          <a:p>
            <a:pPr>
              <a:spcBef>
                <a:spcPts val="300"/>
              </a:spcBef>
              <a:defRPr sz="1150">
                <a:solidFill>
                  <a:srgbClr val="4B5563"/>
                </a:solidFill>
              </a:defRPr>
            </a:pPr>
            <a:r>
              <a:rPr lang="en-US" dirty="0"/>
              <a:t>The project uses probabilistic learning to estimate hidden activity modes and location behavior. The agent’s true internal state is not directly visible, so the system infers it from observed evidence such as time slot, current location, expected location, personality, student type, and rebel status.</a:t>
            </a:r>
          </a:p>
          <a:p>
            <a:pPr>
              <a:spcBef>
                <a:spcPts val="300"/>
              </a:spcBef>
              <a:defRPr sz="1150">
                <a:solidFill>
                  <a:srgbClr val="4B5563"/>
                </a:solidFill>
              </a:defRPr>
            </a:pPr>
            <a:endParaRPr lang="en-US" dirty="0"/>
          </a:p>
          <a:p>
            <a:pPr>
              <a:spcBef>
                <a:spcPts val="300"/>
              </a:spcBef>
              <a:defRPr sz="1150">
                <a:solidFill>
                  <a:srgbClr val="4B5563"/>
                </a:solidFill>
              </a:defRPr>
            </a:pPr>
            <a:r>
              <a:rPr lang="en-US" dirty="0"/>
              <a:t>The EM model estimates hidden modes such as CLASS_MODE, STUDY_MODE, PRACTICE_MODE, SOCIAL_MODE, REST_MODE, REBEL_MODE, and FREE_TIME_MODE.</a:t>
            </a:r>
          </a:p>
          <a:p>
            <a:pPr>
              <a:spcBef>
                <a:spcPts val="300"/>
              </a:spcBef>
              <a:defRPr sz="1150">
                <a:solidFill>
                  <a:srgbClr val="4B5563"/>
                </a:solidFill>
              </a:defRPr>
            </a:pPr>
            <a:endParaRPr lang="en-US" dirty="0"/>
          </a:p>
        </p:txBody>
      </p:sp>
      <p:sp>
        <p:nvSpPr>
          <p:cNvPr id="12" name="TextBox 11"/>
          <p:cNvSpPr txBox="1"/>
          <p:nvPr/>
        </p:nvSpPr>
        <p:spPr>
          <a:xfrm>
            <a:off x="987552" y="6057900"/>
            <a:ext cx="1682496" cy="210312"/>
          </a:xfrm>
          <a:prstGeom prst="rect">
            <a:avLst/>
          </a:prstGeom>
          <a:noFill/>
        </p:spPr>
        <p:txBody>
          <a:bodyPr wrap="none">
            <a:spAutoFit/>
          </a:bodyPr>
          <a:lstStyle/>
          <a:p>
            <a:pPr algn="ctr">
              <a:defRPr sz="1050" b="1">
                <a:solidFill>
                  <a:srgbClr val="FFFFFF"/>
                </a:solidFill>
              </a:defRPr>
            </a:pPr>
            <a:r>
              <a:t>Chapter 18</a:t>
            </a:r>
          </a:p>
        </p:txBody>
      </p:sp>
      <p:pic>
        <p:nvPicPr>
          <p:cNvPr id="16" name="Picture 15" descr="A screenshot of a computer code&#10;&#10;Description automatically generated">
            <a:extLst>
              <a:ext uri="{FF2B5EF4-FFF2-40B4-BE49-F238E27FC236}">
                <a16:creationId xmlns:a16="http://schemas.microsoft.com/office/drawing/2014/main" id="{2FF29549-AAA5-A6F4-C9AF-E26B315B48C7}"/>
              </a:ext>
            </a:extLst>
          </p:cNvPr>
          <p:cNvPicPr>
            <a:picLocks noChangeAspect="1"/>
          </p:cNvPicPr>
          <p:nvPr/>
        </p:nvPicPr>
        <p:blipFill>
          <a:blip r:embed="rId2"/>
          <a:stretch>
            <a:fillRect/>
          </a:stretch>
        </p:blipFill>
        <p:spPr>
          <a:xfrm>
            <a:off x="0" y="4174428"/>
            <a:ext cx="4020214" cy="2623944"/>
          </a:xfrm>
          <a:prstGeom prst="rect">
            <a:avLst/>
          </a:prstGeom>
        </p:spPr>
      </p:pic>
      <p:pic>
        <p:nvPicPr>
          <p:cNvPr id="18" name="Picture 17" descr="A computer screen shot of a program&#10;&#10;Description automatically generated">
            <a:extLst>
              <a:ext uri="{FF2B5EF4-FFF2-40B4-BE49-F238E27FC236}">
                <a16:creationId xmlns:a16="http://schemas.microsoft.com/office/drawing/2014/main" id="{E2E90BC8-4AF9-F08B-A647-634217FBED37}"/>
              </a:ext>
            </a:extLst>
          </p:cNvPr>
          <p:cNvPicPr>
            <a:picLocks noChangeAspect="1"/>
          </p:cNvPicPr>
          <p:nvPr/>
        </p:nvPicPr>
        <p:blipFill>
          <a:blip r:embed="rId3"/>
          <a:stretch>
            <a:fillRect/>
          </a:stretch>
        </p:blipFill>
        <p:spPr>
          <a:xfrm>
            <a:off x="3903182" y="4471333"/>
            <a:ext cx="3772235" cy="2386667"/>
          </a:xfrm>
          <a:prstGeom prst="rect">
            <a:avLst/>
          </a:prstGeom>
        </p:spPr>
      </p:pic>
      <p:pic>
        <p:nvPicPr>
          <p:cNvPr id="20" name="Picture 19" descr="A screenshot of a computer code&#10;&#10;Description automatically generated">
            <a:extLst>
              <a:ext uri="{FF2B5EF4-FFF2-40B4-BE49-F238E27FC236}">
                <a16:creationId xmlns:a16="http://schemas.microsoft.com/office/drawing/2014/main" id="{A495A580-068A-754E-D061-1E773880B3DF}"/>
              </a:ext>
            </a:extLst>
          </p:cNvPr>
          <p:cNvPicPr>
            <a:picLocks noChangeAspect="1"/>
          </p:cNvPicPr>
          <p:nvPr/>
        </p:nvPicPr>
        <p:blipFill>
          <a:blip r:embed="rId4"/>
          <a:stretch>
            <a:fillRect/>
          </a:stretch>
        </p:blipFill>
        <p:spPr>
          <a:xfrm>
            <a:off x="7340452" y="3859762"/>
            <a:ext cx="1049675" cy="1088552"/>
          </a:xfrm>
          <a:prstGeom prst="rect">
            <a:avLst/>
          </a:prstGeom>
        </p:spPr>
      </p:pic>
      <p:pic>
        <p:nvPicPr>
          <p:cNvPr id="24" name="Picture 23" descr="A screenshot of a computer code&#10;&#10;Description automatically generated">
            <a:extLst>
              <a:ext uri="{FF2B5EF4-FFF2-40B4-BE49-F238E27FC236}">
                <a16:creationId xmlns:a16="http://schemas.microsoft.com/office/drawing/2014/main" id="{EE80248E-3245-2D49-6339-49E834909986}"/>
              </a:ext>
            </a:extLst>
          </p:cNvPr>
          <p:cNvPicPr>
            <a:picLocks noChangeAspect="1"/>
          </p:cNvPicPr>
          <p:nvPr/>
        </p:nvPicPr>
        <p:blipFill>
          <a:blip r:embed="rId5"/>
          <a:stretch>
            <a:fillRect/>
          </a:stretch>
        </p:blipFill>
        <p:spPr>
          <a:xfrm>
            <a:off x="8168805" y="3781209"/>
            <a:ext cx="3772235" cy="29743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155680" cy="594360"/>
          </a:xfrm>
          <a:prstGeom prst="rect">
            <a:avLst/>
          </a:prstGeom>
          <a:noFill/>
        </p:spPr>
        <p:txBody>
          <a:bodyPr wrap="none">
            <a:spAutoFit/>
          </a:bodyPr>
          <a:lstStyle/>
          <a:p>
            <a:pPr>
              <a:defRPr sz="3000" b="1">
                <a:solidFill>
                  <a:srgbClr val="111827"/>
                </a:solidFill>
              </a:defRPr>
            </a:pPr>
            <a:r>
              <a:t>Module 6: EM and Q-Learning</a:t>
            </a:r>
          </a:p>
        </p:txBody>
      </p:sp>
      <p:sp>
        <p:nvSpPr>
          <p:cNvPr id="3" name="TextBox 2"/>
          <p:cNvSpPr txBox="1"/>
          <p:nvPr/>
        </p:nvSpPr>
        <p:spPr>
          <a:xfrm>
            <a:off x="548640" y="932688"/>
            <a:ext cx="10881360" cy="329184"/>
          </a:xfrm>
          <a:prstGeom prst="rect">
            <a:avLst/>
          </a:prstGeom>
          <a:noFill/>
        </p:spPr>
        <p:txBody>
          <a:bodyPr wrap="none">
            <a:spAutoFit/>
          </a:bodyPr>
          <a:lstStyle/>
          <a:p>
            <a:pPr>
              <a:defRPr sz="1400">
                <a:solidFill>
                  <a:srgbClr val="4B5563"/>
                </a:solidFill>
              </a:defRPr>
            </a:pPr>
            <a:r>
              <a:t>Actual algorithm implementations for Chapters 20 and 21</a:t>
            </a:r>
          </a:p>
        </p:txBody>
      </p:sp>
      <p:sp>
        <p:nvSpPr>
          <p:cNvPr id="4" name="TextBox 3"/>
          <p:cNvSpPr txBox="1"/>
          <p:nvPr/>
        </p:nvSpPr>
        <p:spPr>
          <a:xfrm>
            <a:off x="10698480" y="6446520"/>
            <a:ext cx="1005840" cy="228600"/>
          </a:xfrm>
          <a:prstGeom prst="rect">
            <a:avLst/>
          </a:prstGeom>
          <a:noFill/>
        </p:spPr>
        <p:txBody>
          <a:bodyPr wrap="none">
            <a:spAutoFit/>
          </a:bodyPr>
          <a:lstStyle/>
          <a:p>
            <a:pPr algn="r">
              <a:defRPr sz="1000">
                <a:solidFill>
                  <a:srgbClr val="4B5563"/>
                </a:solidFill>
              </a:defRPr>
            </a:pPr>
            <a:r>
              <a:t>8/10</a:t>
            </a:r>
          </a:p>
        </p:txBody>
      </p:sp>
      <p:sp>
        <p:nvSpPr>
          <p:cNvPr id="5" name="Rounded Rectangle 4"/>
          <p:cNvSpPr/>
          <p:nvPr/>
        </p:nvSpPr>
        <p:spPr>
          <a:xfrm>
            <a:off x="731520" y="1234440"/>
            <a:ext cx="5166360" cy="3169780"/>
          </a:xfrm>
          <a:prstGeom prst="roundRect">
            <a:avLst/>
          </a:prstGeom>
          <a:solidFill>
            <a:srgbClr val="FFFFFF"/>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234440"/>
            <a:ext cx="5166360" cy="7315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33357" y="1563624"/>
            <a:ext cx="4721492" cy="2693045"/>
          </a:xfrm>
          <a:prstGeom prst="rect">
            <a:avLst/>
          </a:prstGeom>
          <a:noFill/>
        </p:spPr>
        <p:txBody>
          <a:bodyPr wrap="square">
            <a:spAutoFit/>
          </a:bodyPr>
          <a:lstStyle/>
          <a:p>
            <a:pPr>
              <a:defRPr sz="1500" b="1">
                <a:solidFill>
                  <a:srgbClr val="111827"/>
                </a:solidFill>
              </a:defRPr>
            </a:pPr>
            <a:r>
              <a:rPr dirty="0"/>
              <a:t>EM Hidden Activity-Mode Model</a:t>
            </a:r>
            <a:endParaRPr lang="en-US" dirty="0"/>
          </a:p>
          <a:p>
            <a:pPr>
              <a:defRPr sz="1500" b="1">
                <a:solidFill>
                  <a:srgbClr val="111827"/>
                </a:solidFill>
              </a:defRPr>
            </a:pPr>
            <a:endParaRPr lang="en-US" dirty="0"/>
          </a:p>
          <a:p>
            <a:pPr>
              <a:spcBef>
                <a:spcPts val="300"/>
              </a:spcBef>
              <a:defRPr sz="1150">
                <a:solidFill>
                  <a:srgbClr val="4B5563"/>
                </a:solidFill>
              </a:defRPr>
            </a:pPr>
            <a:r>
              <a:rPr lang="en-US" dirty="0"/>
              <a:t>This project implements an EM model to infer the agent’s hidden activity mode. The model is estimated from evidence such as current location, expected location, time slot, student type, personality, and rebel status.</a:t>
            </a:r>
          </a:p>
          <a:p>
            <a:pPr>
              <a:spcBef>
                <a:spcPts val="300"/>
              </a:spcBef>
              <a:defRPr sz="1150">
                <a:solidFill>
                  <a:srgbClr val="4B5563"/>
                </a:solidFill>
              </a:defRPr>
            </a:pPr>
            <a:endParaRPr lang="en-US" dirty="0"/>
          </a:p>
          <a:p>
            <a:pPr>
              <a:spcBef>
                <a:spcPts val="300"/>
              </a:spcBef>
              <a:defRPr sz="1150">
                <a:solidFill>
                  <a:srgbClr val="4B5563"/>
                </a:solidFill>
              </a:defRPr>
            </a:pPr>
            <a:r>
              <a:rPr lang="en-US" dirty="0"/>
              <a:t>The E-step estimates the probability that the agent belongs to each hidden mode: CLASS_MODE, STUDY_MODE, PRACTICE_MODE, SOCIAL_MODE, REST_MODE, REBEL_MODE, or FREE_TIME_MODE.</a:t>
            </a:r>
          </a:p>
          <a:p>
            <a:pPr>
              <a:spcBef>
                <a:spcPts val="300"/>
              </a:spcBef>
              <a:defRPr sz="1150">
                <a:solidFill>
                  <a:srgbClr val="4B5563"/>
                </a:solidFill>
              </a:defRPr>
            </a:pPr>
            <a:endParaRPr lang="en-US" dirty="0"/>
          </a:p>
          <a:p>
            <a:pPr>
              <a:spcBef>
                <a:spcPts val="300"/>
              </a:spcBef>
              <a:defRPr sz="1150">
                <a:solidFill>
                  <a:srgbClr val="4B5563"/>
                </a:solidFill>
              </a:defRPr>
            </a:pPr>
            <a:r>
              <a:rPr lang="en-US" dirty="0"/>
              <a:t>The M-step updates the categorical probabilities for those modes. The system returns the most likely mode, the probability distribution over all modes, the number of EM iterations, and the final log-likelihood.</a:t>
            </a:r>
            <a:endParaRPr dirty="0"/>
          </a:p>
        </p:txBody>
      </p:sp>
      <p:sp>
        <p:nvSpPr>
          <p:cNvPr id="8" name="Rounded Rectangle 7"/>
          <p:cNvSpPr/>
          <p:nvPr/>
        </p:nvSpPr>
        <p:spPr>
          <a:xfrm>
            <a:off x="6309360" y="1234441"/>
            <a:ext cx="5166360" cy="2194560"/>
          </a:xfrm>
          <a:prstGeom prst="roundRect">
            <a:avLst/>
          </a:prstGeom>
          <a:solidFill>
            <a:srgbClr val="FFFFFF"/>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309360" y="1234440"/>
            <a:ext cx="5166360"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10529" y="1399032"/>
            <a:ext cx="4919472" cy="2085186"/>
          </a:xfrm>
          <a:prstGeom prst="rect">
            <a:avLst/>
          </a:prstGeom>
          <a:noFill/>
        </p:spPr>
        <p:txBody>
          <a:bodyPr wrap="square">
            <a:spAutoFit/>
          </a:bodyPr>
          <a:lstStyle/>
          <a:p>
            <a:pPr>
              <a:defRPr sz="1500" b="1">
                <a:solidFill>
                  <a:srgbClr val="111827"/>
                </a:solidFill>
              </a:defRPr>
            </a:pPr>
            <a:r>
              <a:rPr dirty="0"/>
              <a:t>Q-Learning Reinforcement Learning</a:t>
            </a:r>
            <a:endParaRPr lang="en-US" dirty="0"/>
          </a:p>
          <a:p>
            <a:pPr>
              <a:defRPr sz="1500" b="1">
                <a:solidFill>
                  <a:srgbClr val="111827"/>
                </a:solidFill>
              </a:defRPr>
            </a:pPr>
            <a:endParaRPr lang="en-US" dirty="0"/>
          </a:p>
          <a:p>
            <a:pPr>
              <a:spcBef>
                <a:spcPts val="300"/>
              </a:spcBef>
              <a:defRPr sz="1150">
                <a:solidFill>
                  <a:srgbClr val="4B5563"/>
                </a:solidFill>
              </a:defRPr>
            </a:pPr>
            <a:r>
              <a:rPr lang="en-US" dirty="0"/>
              <a:t>This project implements Q-learning to recommend actions for an agent. The state includes the agent’s type, personality, time bucket, obligation status, rebel/aligned status, academic risk level, and missed-class level.</a:t>
            </a:r>
          </a:p>
          <a:p>
            <a:pPr>
              <a:spcBef>
                <a:spcPts val="300"/>
              </a:spcBef>
              <a:defRPr sz="1150">
                <a:solidFill>
                  <a:srgbClr val="4B5563"/>
                </a:solidFill>
              </a:defRPr>
            </a:pPr>
            <a:endParaRPr lang="en-US" dirty="0"/>
          </a:p>
          <a:p>
            <a:pPr>
              <a:spcBef>
                <a:spcPts val="300"/>
              </a:spcBef>
              <a:defRPr sz="1150">
                <a:solidFill>
                  <a:srgbClr val="4B5563"/>
                </a:solidFill>
              </a:defRPr>
            </a:pPr>
            <a:r>
              <a:rPr lang="en-US" dirty="0"/>
              <a:t>The reward function gives positive reward for following obligations and matching personality preferences. It gives penalties for missing obligations, rebelling during class or practice, and increasing academic risk. After training, the model returns learned Q-values and a recommended action.</a:t>
            </a:r>
            <a:endParaRPr dirty="0"/>
          </a:p>
        </p:txBody>
      </p:sp>
      <p:pic>
        <p:nvPicPr>
          <p:cNvPr id="12" name="Picture 11" descr="A screenshot of a computer code&#10;&#10;Description automatically generated">
            <a:extLst>
              <a:ext uri="{FF2B5EF4-FFF2-40B4-BE49-F238E27FC236}">
                <a16:creationId xmlns:a16="http://schemas.microsoft.com/office/drawing/2014/main" id="{F3599E57-262A-82EE-1178-96864A0D68EA}"/>
              </a:ext>
            </a:extLst>
          </p:cNvPr>
          <p:cNvPicPr>
            <a:picLocks noChangeAspect="1"/>
          </p:cNvPicPr>
          <p:nvPr/>
        </p:nvPicPr>
        <p:blipFill>
          <a:blip r:embed="rId2"/>
          <a:stretch>
            <a:fillRect/>
          </a:stretch>
        </p:blipFill>
        <p:spPr>
          <a:xfrm>
            <a:off x="6921216" y="3514680"/>
            <a:ext cx="3432748" cy="3343320"/>
          </a:xfrm>
          <a:prstGeom prst="rect">
            <a:avLst/>
          </a:prstGeom>
        </p:spPr>
      </p:pic>
      <p:pic>
        <p:nvPicPr>
          <p:cNvPr id="14" name="Picture 13" descr="A screenshot of a computer program&#10;&#10;Description automatically generated">
            <a:extLst>
              <a:ext uri="{FF2B5EF4-FFF2-40B4-BE49-F238E27FC236}">
                <a16:creationId xmlns:a16="http://schemas.microsoft.com/office/drawing/2014/main" id="{09103F9D-2110-BD01-616D-320469F1B5F9}"/>
              </a:ext>
            </a:extLst>
          </p:cNvPr>
          <p:cNvPicPr>
            <a:picLocks noChangeAspect="1"/>
          </p:cNvPicPr>
          <p:nvPr/>
        </p:nvPicPr>
        <p:blipFill>
          <a:blip r:embed="rId3"/>
          <a:stretch>
            <a:fillRect/>
          </a:stretch>
        </p:blipFill>
        <p:spPr>
          <a:xfrm>
            <a:off x="487680" y="4512701"/>
            <a:ext cx="5040494" cy="215696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1155680" cy="594360"/>
          </a:xfrm>
          <a:prstGeom prst="rect">
            <a:avLst/>
          </a:prstGeom>
          <a:noFill/>
        </p:spPr>
        <p:txBody>
          <a:bodyPr wrap="none">
            <a:spAutoFit/>
          </a:bodyPr>
          <a:lstStyle/>
          <a:p>
            <a:pPr>
              <a:defRPr sz="3000" b="1">
                <a:solidFill>
                  <a:srgbClr val="111827"/>
                </a:solidFill>
              </a:defRPr>
            </a:pPr>
            <a:r>
              <a:t>Module 7: Neural NLP, Attention, and Transfer Learning</a:t>
            </a:r>
          </a:p>
        </p:txBody>
      </p:sp>
      <p:sp>
        <p:nvSpPr>
          <p:cNvPr id="3" name="TextBox 2"/>
          <p:cNvSpPr txBox="1"/>
          <p:nvPr/>
        </p:nvSpPr>
        <p:spPr>
          <a:xfrm>
            <a:off x="548640" y="932688"/>
            <a:ext cx="3861442" cy="307777"/>
          </a:xfrm>
          <a:prstGeom prst="rect">
            <a:avLst/>
          </a:prstGeom>
          <a:noFill/>
        </p:spPr>
        <p:txBody>
          <a:bodyPr wrap="none">
            <a:spAutoFit/>
          </a:bodyPr>
          <a:lstStyle/>
          <a:p>
            <a:pPr>
              <a:defRPr sz="1400">
                <a:solidFill>
                  <a:srgbClr val="4B5563"/>
                </a:solidFill>
              </a:defRPr>
            </a:pPr>
            <a:r>
              <a:rPr dirty="0"/>
              <a:t>Chapter 22 - NLP and Chapter 23 - Communication</a:t>
            </a:r>
          </a:p>
        </p:txBody>
      </p:sp>
      <p:sp>
        <p:nvSpPr>
          <p:cNvPr id="4" name="TextBox 3"/>
          <p:cNvSpPr txBox="1"/>
          <p:nvPr/>
        </p:nvSpPr>
        <p:spPr>
          <a:xfrm>
            <a:off x="10698480" y="6446520"/>
            <a:ext cx="1005840" cy="228600"/>
          </a:xfrm>
          <a:prstGeom prst="rect">
            <a:avLst/>
          </a:prstGeom>
          <a:noFill/>
        </p:spPr>
        <p:txBody>
          <a:bodyPr wrap="none">
            <a:spAutoFit/>
          </a:bodyPr>
          <a:lstStyle/>
          <a:p>
            <a:pPr algn="r">
              <a:defRPr sz="1000">
                <a:solidFill>
                  <a:srgbClr val="4B5563"/>
                </a:solidFill>
              </a:defRPr>
            </a:pPr>
            <a:r>
              <a:t>9/10</a:t>
            </a:r>
          </a:p>
        </p:txBody>
      </p:sp>
      <p:sp>
        <p:nvSpPr>
          <p:cNvPr id="5" name="Rounded Rectangle 4"/>
          <p:cNvSpPr/>
          <p:nvPr/>
        </p:nvSpPr>
        <p:spPr>
          <a:xfrm>
            <a:off x="731520" y="1280160"/>
            <a:ext cx="3474720" cy="3919465"/>
          </a:xfrm>
          <a:prstGeom prst="roundRect">
            <a:avLst/>
          </a:prstGeom>
          <a:solidFill>
            <a:srgbClr val="FFFFFF"/>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280160"/>
            <a:ext cx="347472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1444751"/>
            <a:ext cx="3001749" cy="3754874"/>
          </a:xfrm>
          <a:prstGeom prst="rect">
            <a:avLst/>
          </a:prstGeom>
          <a:noFill/>
        </p:spPr>
        <p:txBody>
          <a:bodyPr wrap="square">
            <a:spAutoFit/>
          </a:bodyPr>
          <a:lstStyle/>
          <a:p>
            <a:pPr>
              <a:defRPr sz="1500" b="1">
                <a:solidFill>
                  <a:srgbClr val="111827"/>
                </a:solidFill>
              </a:defRPr>
            </a:pPr>
            <a:r>
              <a:rPr dirty="0"/>
              <a:t>Word Representations</a:t>
            </a:r>
            <a:endParaRPr lang="en-US" dirty="0"/>
          </a:p>
          <a:p>
            <a:pPr>
              <a:defRPr sz="1500" b="1">
                <a:solidFill>
                  <a:srgbClr val="111827"/>
                </a:solidFill>
              </a:defRPr>
            </a:pPr>
            <a:endParaRPr lang="en-US" dirty="0"/>
          </a:p>
          <a:p>
            <a:pPr>
              <a:spcBef>
                <a:spcPts val="300"/>
              </a:spcBef>
              <a:defRPr sz="1150">
                <a:solidFill>
                  <a:srgbClr val="4B5563"/>
                </a:solidFill>
              </a:defRPr>
            </a:pPr>
            <a:r>
              <a:rPr lang="en-US" dirty="0"/>
              <a:t>The neural NLP backend converts user questions into tokens and learned vector representations. Instead of treating words only as plain text, the model uses an embedding layer so words with related meanings can be represented numerically.</a:t>
            </a:r>
          </a:p>
          <a:p>
            <a:pPr>
              <a:spcBef>
                <a:spcPts val="300"/>
              </a:spcBef>
              <a:defRPr sz="1150">
                <a:solidFill>
                  <a:srgbClr val="4B5563"/>
                </a:solidFill>
              </a:defRPr>
            </a:pPr>
            <a:endParaRPr lang="en-US" dirty="0"/>
          </a:p>
          <a:p>
            <a:pPr>
              <a:spcBef>
                <a:spcPts val="300"/>
              </a:spcBef>
              <a:defRPr sz="1150">
                <a:solidFill>
                  <a:srgbClr val="4B5563"/>
                </a:solidFill>
              </a:defRPr>
            </a:pPr>
            <a:r>
              <a:rPr lang="en-US" dirty="0"/>
              <a:t>The system also returns nearest-neighbor word evidence. This lets the user see which learned words are close to important tokens in the question.</a:t>
            </a:r>
          </a:p>
          <a:p>
            <a:pPr>
              <a:spcBef>
                <a:spcPts val="300"/>
              </a:spcBef>
              <a:defRPr sz="1150">
                <a:solidFill>
                  <a:srgbClr val="4B5563"/>
                </a:solidFill>
              </a:defRPr>
            </a:pPr>
            <a:endParaRPr lang="en-US" dirty="0"/>
          </a:p>
          <a:p>
            <a:pPr>
              <a:spcBef>
                <a:spcPts val="300"/>
              </a:spcBef>
              <a:defRPr sz="1150">
                <a:solidFill>
                  <a:srgbClr val="4B5563"/>
                </a:solidFill>
              </a:defRPr>
            </a:pPr>
            <a:r>
              <a:rPr lang="en-US" dirty="0"/>
              <a:t>This supports the agent conversation system because questions like “Where are you going?” or “Can we miss class?” must be transformed into representations before the model can classify the intent.</a:t>
            </a:r>
            <a:endParaRPr dirty="0"/>
          </a:p>
        </p:txBody>
      </p:sp>
      <p:sp>
        <p:nvSpPr>
          <p:cNvPr id="8" name="Rounded Rectangle 7"/>
          <p:cNvSpPr/>
          <p:nvPr/>
        </p:nvSpPr>
        <p:spPr>
          <a:xfrm>
            <a:off x="4389120" y="1280160"/>
            <a:ext cx="3474720" cy="2600712"/>
          </a:xfrm>
          <a:prstGeom prst="roundRect">
            <a:avLst/>
          </a:prstGeom>
          <a:solidFill>
            <a:srgbClr val="FFFFFF"/>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89120" y="1280160"/>
            <a:ext cx="3474720" cy="73152"/>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90288" y="1444751"/>
            <a:ext cx="3018527" cy="2600712"/>
          </a:xfrm>
          <a:prstGeom prst="rect">
            <a:avLst/>
          </a:prstGeom>
          <a:noFill/>
        </p:spPr>
        <p:txBody>
          <a:bodyPr wrap="square">
            <a:spAutoFit/>
          </a:bodyPr>
          <a:lstStyle/>
          <a:p>
            <a:pPr>
              <a:defRPr sz="1500" b="1">
                <a:solidFill>
                  <a:srgbClr val="111827"/>
                </a:solidFill>
              </a:defRPr>
            </a:pPr>
            <a:r>
              <a:rPr dirty="0"/>
              <a:t>Sequence Modeling</a:t>
            </a:r>
            <a:endParaRPr lang="en-US" dirty="0"/>
          </a:p>
          <a:p>
            <a:pPr>
              <a:spcBef>
                <a:spcPts val="300"/>
              </a:spcBef>
              <a:defRPr sz="1150">
                <a:solidFill>
                  <a:srgbClr val="4B5563"/>
                </a:solidFill>
              </a:defRPr>
            </a:pPr>
            <a:r>
              <a:rPr lang="en-US" dirty="0"/>
              <a:t>The code uses a GRU-based neural intent classifier to process the question as a sequence of words. This matters because the meaning of a question depends on word order, not only individual words.</a:t>
            </a:r>
          </a:p>
          <a:p>
            <a:pPr>
              <a:spcBef>
                <a:spcPts val="300"/>
              </a:spcBef>
              <a:defRPr sz="1150">
                <a:solidFill>
                  <a:srgbClr val="4B5563"/>
                </a:solidFill>
              </a:defRPr>
            </a:pPr>
            <a:endParaRPr lang="en-US" dirty="0"/>
          </a:p>
          <a:p>
            <a:pPr>
              <a:spcBef>
                <a:spcPts val="300"/>
              </a:spcBef>
              <a:defRPr sz="1150">
                <a:solidFill>
                  <a:srgbClr val="4B5563"/>
                </a:solidFill>
              </a:defRPr>
            </a:pPr>
            <a:r>
              <a:rPr lang="en-US" dirty="0"/>
              <a:t>The Attention-</a:t>
            </a:r>
            <a:r>
              <a:rPr lang="en-US" dirty="0" err="1"/>
              <a:t>BiGRU</a:t>
            </a:r>
            <a:r>
              <a:rPr lang="en-US" dirty="0"/>
              <a:t> model reads the input in both directions and assigns attention weights to the most important tokens. For example, in “Can we miss class?”, words like “miss” and “class” should receive more attention.</a:t>
            </a:r>
          </a:p>
          <a:p>
            <a:pPr>
              <a:spcBef>
                <a:spcPts val="300"/>
              </a:spcBef>
              <a:defRPr sz="1150">
                <a:solidFill>
                  <a:srgbClr val="4B5563"/>
                </a:solidFill>
              </a:defRPr>
            </a:pPr>
            <a:endParaRPr lang="en-US" dirty="0"/>
          </a:p>
        </p:txBody>
      </p:sp>
      <p:sp>
        <p:nvSpPr>
          <p:cNvPr id="11" name="Rounded Rectangle 10"/>
          <p:cNvSpPr/>
          <p:nvPr/>
        </p:nvSpPr>
        <p:spPr>
          <a:xfrm>
            <a:off x="8046720" y="1280160"/>
            <a:ext cx="3474720" cy="3400897"/>
          </a:xfrm>
          <a:prstGeom prst="roundRect">
            <a:avLst/>
          </a:prstGeom>
          <a:solidFill>
            <a:srgbClr val="FFFFFF"/>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046720" y="1280160"/>
            <a:ext cx="3474720" cy="7315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93024" y="1368996"/>
            <a:ext cx="3182112" cy="3170099"/>
          </a:xfrm>
          <a:prstGeom prst="rect">
            <a:avLst/>
          </a:prstGeom>
          <a:noFill/>
        </p:spPr>
        <p:txBody>
          <a:bodyPr wrap="square">
            <a:spAutoFit/>
          </a:bodyPr>
          <a:lstStyle/>
          <a:p>
            <a:pPr>
              <a:defRPr sz="1500" b="1">
                <a:solidFill>
                  <a:srgbClr val="111827"/>
                </a:solidFill>
              </a:defRPr>
            </a:pPr>
            <a:r>
              <a:rPr dirty="0"/>
              <a:t>Transfer Learning</a:t>
            </a:r>
            <a:endParaRPr lang="en-US" dirty="0"/>
          </a:p>
          <a:p>
            <a:pPr>
              <a:spcBef>
                <a:spcPts val="300"/>
              </a:spcBef>
              <a:defRPr sz="1150">
                <a:solidFill>
                  <a:srgbClr val="4B5563"/>
                </a:solidFill>
              </a:defRPr>
            </a:pPr>
            <a:r>
              <a:rPr lang="en-US" dirty="0"/>
              <a:t>The system includes a </a:t>
            </a:r>
            <a:r>
              <a:rPr lang="en-US" dirty="0" err="1"/>
              <a:t>DistilBERT</a:t>
            </a:r>
            <a:r>
              <a:rPr lang="en-US" dirty="0"/>
              <a:t> transfer-learning extension. This means the project is designed so a pretrained transformer model can be used for stronger language understanding.</a:t>
            </a:r>
          </a:p>
          <a:p>
            <a:pPr>
              <a:spcBef>
                <a:spcPts val="300"/>
              </a:spcBef>
              <a:defRPr sz="1150">
                <a:solidFill>
                  <a:srgbClr val="4B5563"/>
                </a:solidFill>
              </a:defRPr>
            </a:pPr>
            <a:endParaRPr lang="en-US" dirty="0"/>
          </a:p>
          <a:p>
            <a:pPr>
              <a:spcBef>
                <a:spcPts val="300"/>
              </a:spcBef>
              <a:defRPr sz="1150">
                <a:solidFill>
                  <a:srgbClr val="4B5563"/>
                </a:solidFill>
              </a:defRPr>
            </a:pPr>
            <a:r>
              <a:rPr lang="en-US" dirty="0"/>
              <a:t>In the current system, the status panel reports whether the transformer extension is available. This is important because transfer learning allows the project to move beyond a model trained only on the project’s small intent dataset.</a:t>
            </a:r>
          </a:p>
          <a:p>
            <a:pPr>
              <a:spcBef>
                <a:spcPts val="300"/>
              </a:spcBef>
              <a:defRPr sz="1150">
                <a:solidFill>
                  <a:srgbClr val="4B5563"/>
                </a:solidFill>
              </a:defRPr>
            </a:pPr>
            <a:endParaRPr lang="en-US" dirty="0"/>
          </a:p>
          <a:p>
            <a:pPr>
              <a:spcBef>
                <a:spcPts val="300"/>
              </a:spcBef>
              <a:defRPr sz="1150">
                <a:solidFill>
                  <a:srgbClr val="4B5563"/>
                </a:solidFill>
              </a:defRPr>
            </a:pPr>
            <a:r>
              <a:rPr lang="en-US" b="1" u="sng" dirty="0"/>
              <a:t>the project includes transfer-learning capability, while the main active model used in the app is the neural intent classifier with embeddings, GRU, and attention.</a:t>
            </a:r>
            <a:endParaRPr b="1" u="sng" dirty="0"/>
          </a:p>
        </p:txBody>
      </p:sp>
      <p:pic>
        <p:nvPicPr>
          <p:cNvPr id="15" name="Picture 14" descr="A computer code with text&#10;&#10;Description automatically generated with medium confidence">
            <a:extLst>
              <a:ext uri="{FF2B5EF4-FFF2-40B4-BE49-F238E27FC236}">
                <a16:creationId xmlns:a16="http://schemas.microsoft.com/office/drawing/2014/main" id="{A3A6EAD3-1D5E-0427-9AEB-61F06D355A8F}"/>
              </a:ext>
            </a:extLst>
          </p:cNvPr>
          <p:cNvPicPr>
            <a:picLocks noChangeAspect="1"/>
          </p:cNvPicPr>
          <p:nvPr/>
        </p:nvPicPr>
        <p:blipFill>
          <a:blip r:embed="rId2"/>
          <a:stretch>
            <a:fillRect/>
          </a:stretch>
        </p:blipFill>
        <p:spPr>
          <a:xfrm>
            <a:off x="20320" y="5425463"/>
            <a:ext cx="4963443" cy="1081776"/>
          </a:xfrm>
          <a:prstGeom prst="rect">
            <a:avLst/>
          </a:prstGeom>
        </p:spPr>
      </p:pic>
      <p:pic>
        <p:nvPicPr>
          <p:cNvPr id="17" name="Picture 16" descr="A screenshot of a computer code&#10;&#10;Description automatically generated">
            <a:extLst>
              <a:ext uri="{FF2B5EF4-FFF2-40B4-BE49-F238E27FC236}">
                <a16:creationId xmlns:a16="http://schemas.microsoft.com/office/drawing/2014/main" id="{19C38408-F790-18A3-BE17-5B9810058B6C}"/>
              </a:ext>
            </a:extLst>
          </p:cNvPr>
          <p:cNvPicPr>
            <a:picLocks noChangeAspect="1"/>
          </p:cNvPicPr>
          <p:nvPr/>
        </p:nvPicPr>
        <p:blipFill>
          <a:blip r:embed="rId3"/>
          <a:stretch>
            <a:fillRect/>
          </a:stretch>
        </p:blipFill>
        <p:spPr>
          <a:xfrm>
            <a:off x="4248872" y="3904774"/>
            <a:ext cx="3526045" cy="1081777"/>
          </a:xfrm>
          <a:prstGeom prst="rect">
            <a:avLst/>
          </a:prstGeom>
        </p:spPr>
      </p:pic>
      <p:pic>
        <p:nvPicPr>
          <p:cNvPr id="19" name="Picture 18" descr="A close-up of a white background&#10;&#10;Description automatically generated">
            <a:extLst>
              <a:ext uri="{FF2B5EF4-FFF2-40B4-BE49-F238E27FC236}">
                <a16:creationId xmlns:a16="http://schemas.microsoft.com/office/drawing/2014/main" id="{6E4FD3C1-6DAB-9550-1199-0D65CDE356F0}"/>
              </a:ext>
            </a:extLst>
          </p:cNvPr>
          <p:cNvPicPr>
            <a:picLocks noChangeAspect="1"/>
          </p:cNvPicPr>
          <p:nvPr/>
        </p:nvPicPr>
        <p:blipFill>
          <a:blip r:embed="rId4"/>
          <a:stretch>
            <a:fillRect/>
          </a:stretch>
        </p:blipFill>
        <p:spPr>
          <a:xfrm>
            <a:off x="4603162" y="4896850"/>
            <a:ext cx="7179724" cy="99694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411480" y="0"/>
            <a:ext cx="11155680" cy="594360"/>
          </a:xfrm>
          <a:prstGeom prst="rect">
            <a:avLst/>
          </a:prstGeom>
          <a:noFill/>
        </p:spPr>
        <p:txBody>
          <a:bodyPr wrap="none">
            <a:spAutoFit/>
          </a:bodyPr>
          <a:lstStyle/>
          <a:p>
            <a:pPr>
              <a:defRPr sz="3000" b="1">
                <a:solidFill>
                  <a:srgbClr val="111827"/>
                </a:solidFill>
              </a:defRPr>
            </a:pPr>
            <a:r>
              <a:rPr dirty="0"/>
              <a:t>Conclusion and Discussion</a:t>
            </a:r>
          </a:p>
        </p:txBody>
      </p:sp>
      <p:sp>
        <p:nvSpPr>
          <p:cNvPr id="3" name="TextBox 2"/>
          <p:cNvSpPr txBox="1"/>
          <p:nvPr/>
        </p:nvSpPr>
        <p:spPr>
          <a:xfrm>
            <a:off x="445060" y="528066"/>
            <a:ext cx="10881360" cy="329184"/>
          </a:xfrm>
          <a:prstGeom prst="rect">
            <a:avLst/>
          </a:prstGeom>
          <a:noFill/>
        </p:spPr>
        <p:txBody>
          <a:bodyPr wrap="none">
            <a:spAutoFit/>
          </a:bodyPr>
          <a:lstStyle/>
          <a:p>
            <a:pPr>
              <a:defRPr sz="1400">
                <a:solidFill>
                  <a:srgbClr val="4B5563"/>
                </a:solidFill>
              </a:defRPr>
            </a:pPr>
            <a:r>
              <a:t>Are the problems solved?</a:t>
            </a:r>
          </a:p>
        </p:txBody>
      </p:sp>
      <p:sp>
        <p:nvSpPr>
          <p:cNvPr id="4" name="TextBox 3"/>
          <p:cNvSpPr txBox="1"/>
          <p:nvPr/>
        </p:nvSpPr>
        <p:spPr>
          <a:xfrm>
            <a:off x="10698480" y="6446520"/>
            <a:ext cx="1005840" cy="228600"/>
          </a:xfrm>
          <a:prstGeom prst="rect">
            <a:avLst/>
          </a:prstGeom>
          <a:noFill/>
        </p:spPr>
        <p:txBody>
          <a:bodyPr wrap="none">
            <a:spAutoFit/>
          </a:bodyPr>
          <a:lstStyle/>
          <a:p>
            <a:pPr algn="r">
              <a:defRPr sz="1000">
                <a:solidFill>
                  <a:srgbClr val="4B5563"/>
                </a:solidFill>
              </a:defRPr>
            </a:pPr>
            <a:r>
              <a:t>10/10</a:t>
            </a:r>
          </a:p>
        </p:txBody>
      </p:sp>
      <p:sp>
        <p:nvSpPr>
          <p:cNvPr id="5" name="TextBox 4"/>
          <p:cNvSpPr txBox="1"/>
          <p:nvPr/>
        </p:nvSpPr>
        <p:spPr>
          <a:xfrm>
            <a:off x="445060" y="857250"/>
            <a:ext cx="5715000" cy="6206827"/>
          </a:xfrm>
          <a:prstGeom prst="rect">
            <a:avLst/>
          </a:prstGeom>
          <a:noFill/>
        </p:spPr>
        <p:txBody>
          <a:bodyPr wrap="square">
            <a:spAutoFit/>
          </a:bodyPr>
          <a:lstStyle/>
          <a:p>
            <a:pPr>
              <a:spcAft>
                <a:spcPts val="700"/>
              </a:spcAft>
              <a:defRPr sz="1550">
                <a:solidFill>
                  <a:srgbClr val="111827"/>
                </a:solidFill>
              </a:defRPr>
            </a:pPr>
            <a:r>
              <a:rPr lang="en-US" dirty="0"/>
              <a:t>Yes: the system simulates 50 agents across time and campus locations.</a:t>
            </a:r>
          </a:p>
          <a:p>
            <a:pPr>
              <a:spcAft>
                <a:spcPts val="700"/>
              </a:spcAft>
              <a:defRPr sz="1550">
                <a:solidFill>
                  <a:srgbClr val="111827"/>
                </a:solidFill>
              </a:defRPr>
            </a:pPr>
            <a:r>
              <a:rPr lang="en-US" dirty="0"/>
              <a:t>Yes: agents distinguish expected vs. actual location and explain deviations.</a:t>
            </a:r>
          </a:p>
          <a:p>
            <a:pPr>
              <a:spcAft>
                <a:spcPts val="700"/>
              </a:spcAft>
              <a:defRPr sz="1550">
                <a:solidFill>
                  <a:srgbClr val="111827"/>
                </a:solidFill>
              </a:defRPr>
            </a:pPr>
            <a:r>
              <a:rPr lang="en-US" dirty="0"/>
              <a:t>Yes: users can ask questions, issue commands, and continue conversations.</a:t>
            </a:r>
          </a:p>
          <a:p>
            <a:pPr>
              <a:spcAft>
                <a:spcPts val="700"/>
              </a:spcAft>
              <a:defRPr sz="1550">
                <a:solidFill>
                  <a:srgbClr val="111827"/>
                </a:solidFill>
              </a:defRPr>
            </a:pPr>
            <a:r>
              <a:rPr lang="en-US" dirty="0"/>
              <a:t>Yes: the app exposes actual AI evidence from NLP, EM, utility, VOI, and Q-learning.</a:t>
            </a:r>
          </a:p>
          <a:p>
            <a:pPr>
              <a:spcAft>
                <a:spcPts val="700"/>
              </a:spcAft>
              <a:defRPr sz="1550">
                <a:solidFill>
                  <a:srgbClr val="111827"/>
                </a:solidFill>
              </a:defRPr>
            </a:pPr>
            <a:r>
              <a:rPr lang="en-US" dirty="0"/>
              <a:t>Main limitation: the campus data is simulated; future work should use real schedule/sensor data. </a:t>
            </a:r>
          </a:p>
          <a:p>
            <a:pPr>
              <a:spcAft>
                <a:spcPts val="700"/>
              </a:spcAft>
              <a:defRPr sz="1550">
                <a:solidFill>
                  <a:srgbClr val="111827"/>
                </a:solidFill>
              </a:defRPr>
            </a:pPr>
            <a:br>
              <a:rPr lang="en-US" dirty="0"/>
            </a:br>
            <a:r>
              <a:rPr lang="en-US" dirty="0"/>
              <a:t>The project works fully in the local environment. The live version was deployed with Netlify and Render, but the AI backend features time out because the backend uses heavy AI modules on a free Render instance. The local version is the complete reliable implementation.</a:t>
            </a:r>
            <a:br>
              <a:rPr lang="en-US" dirty="0"/>
            </a:br>
            <a:br>
              <a:rPr lang="en-US" dirty="0"/>
            </a:br>
            <a:r>
              <a:rPr lang="en-US" dirty="0" err="1"/>
              <a:t>FrontEnd</a:t>
            </a:r>
            <a:r>
              <a:rPr lang="en-US" dirty="0"/>
              <a:t>:</a:t>
            </a:r>
          </a:p>
          <a:p>
            <a:pPr>
              <a:spcAft>
                <a:spcPts val="700"/>
              </a:spcAft>
              <a:defRPr sz="1550">
                <a:solidFill>
                  <a:srgbClr val="111827"/>
                </a:solidFill>
              </a:defRPr>
            </a:pPr>
            <a:r>
              <a:rPr lang="en-US" dirty="0"/>
              <a:t>https://</a:t>
            </a:r>
            <a:r>
              <a:rPr lang="en-US" dirty="0" err="1"/>
              <a:t>github.com</a:t>
            </a:r>
            <a:r>
              <a:rPr lang="en-US" dirty="0"/>
              <a:t>/</a:t>
            </a:r>
            <a:r>
              <a:rPr lang="en-US" dirty="0" err="1"/>
              <a:t>juanjbarreraj</a:t>
            </a:r>
            <a:r>
              <a:rPr lang="en-US" dirty="0"/>
              <a:t>/</a:t>
            </a:r>
            <a:r>
              <a:rPr lang="en-US" dirty="0" err="1"/>
              <a:t>AdvancedTopicsInAIFinalProjectFrontEnd</a:t>
            </a:r>
            <a:br>
              <a:rPr lang="en-US" dirty="0"/>
            </a:br>
            <a:br>
              <a:rPr lang="en-US" dirty="0"/>
            </a:br>
            <a:r>
              <a:rPr lang="en-US" dirty="0" err="1"/>
              <a:t>BackEnd</a:t>
            </a:r>
            <a:r>
              <a:rPr lang="en-US" dirty="0"/>
              <a:t>:</a:t>
            </a:r>
          </a:p>
          <a:p>
            <a:pPr>
              <a:spcAft>
                <a:spcPts val="700"/>
              </a:spcAft>
              <a:defRPr sz="1550">
                <a:solidFill>
                  <a:srgbClr val="111827"/>
                </a:solidFill>
              </a:defRPr>
            </a:pPr>
            <a:r>
              <a:rPr lang="en-US" dirty="0"/>
              <a:t>https://</a:t>
            </a:r>
            <a:r>
              <a:rPr lang="en-US" dirty="0" err="1"/>
              <a:t>github.com</a:t>
            </a:r>
            <a:r>
              <a:rPr lang="en-US" dirty="0"/>
              <a:t>/</a:t>
            </a:r>
            <a:r>
              <a:rPr lang="en-US" dirty="0" err="1"/>
              <a:t>juanjbarreraj</a:t>
            </a:r>
            <a:r>
              <a:rPr lang="en-US" dirty="0"/>
              <a:t>/</a:t>
            </a:r>
            <a:r>
              <a:rPr lang="en-US" dirty="0" err="1"/>
              <a:t>AdvancedTopicsInAIFinalProjectBackEnd</a:t>
            </a:r>
            <a:endParaRPr lang="en-US" dirty="0"/>
          </a:p>
        </p:txBody>
      </p:sp>
      <p:sp>
        <p:nvSpPr>
          <p:cNvPr id="6" name="Rounded Rectangle 5"/>
          <p:cNvSpPr/>
          <p:nvPr/>
        </p:nvSpPr>
        <p:spPr>
          <a:xfrm>
            <a:off x="6720840" y="1600200"/>
            <a:ext cx="4434840" cy="3337560"/>
          </a:xfrm>
          <a:prstGeom prst="roundRect">
            <a:avLst/>
          </a:prstGeom>
          <a:solidFill>
            <a:srgbClr val="FFFFFF"/>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720840" y="1600200"/>
            <a:ext cx="4434840"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solidFill>
                <a:schemeClr val="tx2">
                  <a:lumMod val="75000"/>
                </a:schemeClr>
              </a:solidFill>
            </a:endParaRPr>
          </a:p>
        </p:txBody>
      </p:sp>
      <p:sp>
        <p:nvSpPr>
          <p:cNvPr id="8" name="TextBox 7"/>
          <p:cNvSpPr txBox="1"/>
          <p:nvPr/>
        </p:nvSpPr>
        <p:spPr>
          <a:xfrm>
            <a:off x="6740180" y="1784828"/>
            <a:ext cx="4496744" cy="892552"/>
          </a:xfrm>
          <a:prstGeom prst="rect">
            <a:avLst/>
          </a:prstGeom>
          <a:noFill/>
        </p:spPr>
        <p:txBody>
          <a:bodyPr wrap="none">
            <a:spAutoFit/>
          </a:bodyPr>
          <a:lstStyle/>
          <a:p>
            <a:pPr>
              <a:defRPr sz="1500" b="1">
                <a:solidFill>
                  <a:srgbClr val="111827"/>
                </a:solidFill>
              </a:defRPr>
            </a:pPr>
            <a:r>
              <a:rPr dirty="0"/>
              <a:t>Final Claim</a:t>
            </a:r>
          </a:p>
          <a:p>
            <a:pPr>
              <a:spcBef>
                <a:spcPts val="300"/>
              </a:spcBef>
              <a:defRPr sz="1150">
                <a:solidFill>
                  <a:srgbClr val="4B5563"/>
                </a:solidFill>
              </a:defRPr>
            </a:pPr>
            <a:r>
              <a:rPr dirty="0"/>
              <a:t>The project is not only conceptually aligned.</a:t>
            </a:r>
            <a:r>
              <a:rPr lang="en-US" dirty="0"/>
              <a:t> </a:t>
            </a:r>
            <a:br>
              <a:rPr lang="en-US" dirty="0"/>
            </a:br>
            <a:r>
              <a:rPr lang="en-US" dirty="0"/>
              <a:t>But it also</a:t>
            </a:r>
            <a:r>
              <a:rPr dirty="0"/>
              <a:t> implements AI </a:t>
            </a:r>
            <a:r>
              <a:rPr lang="en-US" dirty="0"/>
              <a:t>implementations and concepts</a:t>
            </a:r>
            <a:r>
              <a:rPr dirty="0"/>
              <a:t> from the book.</a:t>
            </a:r>
            <a:br>
              <a:rPr lang="en-US" dirty="0"/>
            </a:br>
            <a:r>
              <a:rPr lang="en-US" dirty="0"/>
              <a:t>By</a:t>
            </a:r>
            <a:r>
              <a:rPr dirty="0"/>
              <a:t> integrat</a:t>
            </a:r>
            <a:r>
              <a:rPr lang="en-US" dirty="0"/>
              <a:t>ing</a:t>
            </a:r>
            <a:r>
              <a:rPr dirty="0"/>
              <a:t> them into one interactive AI system.</a:t>
            </a:r>
          </a:p>
        </p:txBody>
      </p:sp>
      <p:sp>
        <p:nvSpPr>
          <p:cNvPr id="9" name="Rounded Rectangle 8"/>
          <p:cNvSpPr/>
          <p:nvPr/>
        </p:nvSpPr>
        <p:spPr>
          <a:xfrm>
            <a:off x="8233585" y="5170932"/>
            <a:ext cx="1828800" cy="347472"/>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06737" y="5239512"/>
            <a:ext cx="1682496" cy="210312"/>
          </a:xfrm>
          <a:prstGeom prst="rect">
            <a:avLst/>
          </a:prstGeom>
          <a:noFill/>
        </p:spPr>
        <p:txBody>
          <a:bodyPr wrap="none">
            <a:spAutoFit/>
          </a:bodyPr>
          <a:lstStyle/>
          <a:p>
            <a:pPr algn="ctr">
              <a:defRPr sz="1050" b="1">
                <a:solidFill>
                  <a:srgbClr val="FFFFFF"/>
                </a:solidFill>
              </a:defRPr>
            </a:pPr>
            <a:r>
              <a:rPr dirty="0"/>
              <a:t>Solved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358</TotalTime>
  <Words>1846</Words>
  <Application>Microsoft Macintosh PowerPoint</Application>
  <PresentationFormat>Widescreen</PresentationFormat>
  <Paragraphs>162</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Final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Project</dc:title>
  <dc:subject/>
  <dc:creator/>
  <cp:keywords/>
  <dc:description>generated using python-pptx</dc:description>
  <cp:lastModifiedBy>Barrera, Juan J</cp:lastModifiedBy>
  <cp:revision>4</cp:revision>
  <dcterms:created xsi:type="dcterms:W3CDTF">2013-01-27T09:14:16Z</dcterms:created>
  <dcterms:modified xsi:type="dcterms:W3CDTF">2026-05-09T02:53:57Z</dcterms:modified>
  <cp:category/>
</cp:coreProperties>
</file>